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9" r:id="rId13"/>
    <p:sldId id="270"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99B913-6C6D-4C84-8333-9854343A54BB}" v="88" dt="2026-10-01T09:34:59.9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00000"/>
            <a:ext cx="9144000" cy="2200000"/>
          </a:xfrm>
        </p:spPr>
        <p:txBody>
          <a:bodyPr/>
          <a:lstStyle/>
          <a:p>
            <a:pPr algn="ctr"/>
            <a:r>
              <a:rPr lang="en-US" sz="2800" b="1" i="0" dirty="0">
                <a:solidFill>
                  <a:srgbClr val="C00000"/>
                </a:solidFill>
              </a:rPr>
              <a:t>Data Structures and Algorithms -3 (25CS2103E)</a:t>
            </a:r>
          </a:p>
          <a:p>
            <a:pPr algn="ctr"/>
            <a:endParaRPr lang="en-US" sz="1800"/>
          </a:p>
          <a:p>
            <a:pPr algn="ctr"/>
            <a:r>
              <a:rPr lang="en-US" sz="3400" b="1" i="0" dirty="0">
                <a:solidFill>
                  <a:srgbClr val="C00000"/>
                </a:solidFill>
              </a:rPr>
              <a:t>Plagiarism Detection System using Rolling Hash Techniques</a:t>
            </a:r>
          </a:p>
        </p:txBody>
      </p:sp>
      <p:sp>
        <p:nvSpPr>
          <p:cNvPr id="3" name="Subtitle 2"/>
          <p:cNvSpPr>
            <a:spLocks noGrp="1"/>
          </p:cNvSpPr>
          <p:nvPr>
            <p:ph type="subTitle" idx="1"/>
          </p:nvPr>
        </p:nvSpPr>
        <p:spPr>
          <a:xfrm>
            <a:off x="3000000" y="3450000"/>
            <a:ext cx="6192000" cy="2700000"/>
          </a:xfrm>
        </p:spPr>
        <p:txBody>
          <a:bodyPr/>
          <a:lstStyle/>
          <a:p>
            <a:pPr algn="ctr"/>
            <a:r>
              <a:rPr lang="en-US" sz="1600" b="1" i="0" dirty="0">
                <a:solidFill>
                  <a:srgbClr val="262626"/>
                </a:solidFill>
              </a:rPr>
              <a:t>Team 10  |  Section 5</a:t>
            </a:r>
          </a:p>
          <a:p>
            <a:pPr algn="ctr"/>
            <a:r>
              <a:rPr lang="en-US" sz="1600" b="0" i="0" dirty="0">
                <a:solidFill>
                  <a:srgbClr val="0070C0"/>
                </a:solidFill>
              </a:rPr>
              <a:t>Prakshitha Malla (2520030342)</a:t>
            </a:r>
          </a:p>
          <a:p>
            <a:pPr algn="ctr"/>
            <a:r>
              <a:rPr lang="en-US" sz="1600" b="0" i="0" dirty="0">
                <a:solidFill>
                  <a:srgbClr val="0070C0"/>
                </a:solidFill>
              </a:rPr>
              <a:t>Datla Sri Sai Purna Mahija (2520030261)</a:t>
            </a:r>
          </a:p>
          <a:p>
            <a:pPr algn="ctr"/>
            <a:r>
              <a:rPr lang="en-US" sz="1600" b="0" i="0" dirty="0">
                <a:solidFill>
                  <a:srgbClr val="0070C0"/>
                </a:solidFill>
              </a:rPr>
              <a:t>Kheerthi Ganta (2520030383)</a:t>
            </a:r>
          </a:p>
          <a:p>
            <a:pPr algn="ctr"/>
            <a:endParaRPr lang="en-US" sz="1000"/>
          </a:p>
          <a:p>
            <a:pPr algn="ctr"/>
            <a:r>
              <a:rPr lang="en-US" sz="1600" b="0" i="0" dirty="0">
                <a:solidFill>
                  <a:srgbClr val="262626"/>
                </a:solidFill>
              </a:rPr>
              <a:t>Under the Esteemed Guidance of</a:t>
            </a:r>
          </a:p>
          <a:p>
            <a:pPr algn="ctr"/>
            <a:r>
              <a:rPr lang="en-US" sz="1600" b="1" i="0" dirty="0">
                <a:solidFill>
                  <a:srgbClr val="262626"/>
                </a:solidFill>
              </a:rPr>
              <a:t>D Swathi Mam, Assistant Professor, CSE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28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2800" b="0" i="0" u="none" strike="noStrike" kern="1200" dirty="0">
                <a:solidFill>
                  <a:srgbClr val="000000"/>
                </a:solidFill>
                <a:effectLst/>
                <a:latin typeface="Calibri" panose="020F0502020204030204" pitchFamily="34" charset="0"/>
              </a:rPr>
              <a:t>Introduction</a:t>
            </a:r>
            <a:endParaRPr lang="en-IN" sz="28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28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28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28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28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28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Methodology and Flow Chart</a:t>
            </a:r>
            <a:endParaRPr lang="en-IN" sz="28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28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28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28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28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28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28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28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28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101" name="Abstract 101"/>
          <p:cNvSpPr/>
          <p:nvPr/>
        </p:nvSpPr>
        <p:spPr>
          <a:xfrm>
            <a:off x="900000" y="1100000"/>
            <a:ext cx="10400000" cy="2950000"/>
          </a:xfrm>
          <a:prstGeom prst="roundRect">
            <a:avLst>
              <a:gd name="adj" fmla="val 6000"/>
            </a:avLst>
          </a:prstGeom>
          <a:solidFill>
            <a:srgbClr val="F2F2F2"/>
          </a:solidFill>
          <a:ln>
            <a:noFill/>
          </a:ln>
        </p:spPr>
        <p:txBody>
          <a:bodyPr wrap="square" lIns="228600" tIns="228600" rIns="228600" bIns="228600" rtlCol="0" anchor="ctr">
            <a:noAutofit/>
          </a:bodyPr>
          <a:lstStyle/>
          <a:p>
            <a:pPr marL="0" indent="0" algn="l">
              <a:lnSpc>
                <a:spcPct val="110000"/>
              </a:lnSpc>
              <a:spcBef>
                <a:spcPts val="0"/>
              </a:spcBef>
              <a:spcAft>
                <a:spcPts val="600"/>
              </a:spcAft>
              <a:buNone/>
            </a:pPr>
            <a:r>
              <a:rPr lang="en-US" sz="2200" b="0" i="0" dirty="0">
                <a:solidFill>
                  <a:srgbClr val="262626"/>
                </a:solidFill>
              </a:rPr>
              <a:t>Academic integrity depends on reliably spotting copied content across large document collections. This project builds a plagiarism detection system on the Rabin-Karp rolling hash: polynomial hashes of sliding text windows expose matching passages across multiple documents in expected linear time. Double hashing plus character-level verification removes false positives caused by hash collisions. Every hash table, string routine and array is implemented from scratch, with no java.util. The engine reports similarity percentages and highlights each copied passage for the user.</a:t>
            </a:r>
          </a:p>
        </p:txBody>
      </p:sp>
      <p:sp>
        <p:nvSpPr>
          <p:cNvPr id="102" name="Stat 102"/>
          <p:cNvSpPr/>
          <p:nvPr/>
        </p:nvSpPr>
        <p:spPr>
          <a:xfrm>
            <a:off x="900000" y="4300000"/>
            <a:ext cx="3350000" cy="1600000"/>
          </a:xfrm>
          <a:prstGeom prst="roundRect">
            <a:avLst>
              <a:gd name="adj" fmla="val 8000"/>
            </a:avLst>
          </a:prstGeom>
          <a:solidFill>
            <a:srgbClr val="FFFFFF"/>
          </a:solidFill>
          <a:ln w="12700">
            <a:solidFill>
              <a:srgbClr val="D0D0D0"/>
            </a:solidFill>
          </a:ln>
        </p:spPr>
        <p:txBody>
          <a:bodyPr wrap="square" lIns="91440" tIns="91440" rIns="91440" bIns="91440" rtlCol="0" anchor="ctr">
            <a:noAutofit/>
          </a:bodyPr>
          <a:lstStyle/>
          <a:p>
            <a:pPr marL="0" indent="0" algn="ctr">
              <a:spcBef>
                <a:spcPts val="0"/>
              </a:spcBef>
              <a:spcAft>
                <a:spcPts val="200"/>
              </a:spcAft>
              <a:buNone/>
            </a:pPr>
            <a:r>
              <a:rPr lang="en-US" sz="4400" b="1" i="0" dirty="0">
                <a:solidFill>
                  <a:srgbClr val="C00000"/>
                </a:solidFill>
              </a:rPr>
              <a:t>O(n + m)</a:t>
            </a:r>
          </a:p>
          <a:p>
            <a:pPr marL="0" indent="0" algn="ctr">
              <a:spcBef>
                <a:spcPts val="0"/>
              </a:spcBef>
              <a:spcAft>
                <a:spcPts val="0"/>
              </a:spcAft>
              <a:buNone/>
            </a:pPr>
            <a:r>
              <a:rPr lang="en-US" sz="1600" b="0" i="0" dirty="0">
                <a:solidFill>
                  <a:srgbClr val="595959"/>
                </a:solidFill>
              </a:rPr>
              <a:t>expected time per document pair</a:t>
            </a:r>
          </a:p>
        </p:txBody>
      </p:sp>
      <p:sp>
        <p:nvSpPr>
          <p:cNvPr id="103" name="Stat 103"/>
          <p:cNvSpPr/>
          <p:nvPr/>
        </p:nvSpPr>
        <p:spPr>
          <a:xfrm>
            <a:off x="4425000" y="4300000"/>
            <a:ext cx="3350000" cy="1600000"/>
          </a:xfrm>
          <a:prstGeom prst="roundRect">
            <a:avLst>
              <a:gd name="adj" fmla="val 8000"/>
            </a:avLst>
          </a:prstGeom>
          <a:solidFill>
            <a:srgbClr val="FFFFFF"/>
          </a:solidFill>
          <a:ln w="12700">
            <a:solidFill>
              <a:srgbClr val="D0D0D0"/>
            </a:solidFill>
          </a:ln>
        </p:spPr>
        <p:txBody>
          <a:bodyPr wrap="square" lIns="91440" tIns="91440" rIns="91440" bIns="91440" rtlCol="0" anchor="ctr">
            <a:noAutofit/>
          </a:bodyPr>
          <a:lstStyle/>
          <a:p>
            <a:pPr marL="0" indent="0" algn="ctr">
              <a:spcBef>
                <a:spcPts val="0"/>
              </a:spcBef>
              <a:spcAft>
                <a:spcPts val="200"/>
              </a:spcAft>
              <a:buNone/>
            </a:pPr>
            <a:r>
              <a:rPr lang="en-US" sz="4400" b="1" i="0" dirty="0">
                <a:solidFill>
                  <a:srgbClr val="C00000"/>
                </a:solidFill>
              </a:rPr>
              <a:t>2 x 32-bit</a:t>
            </a:r>
          </a:p>
          <a:p>
            <a:pPr marL="0" indent="0" algn="ctr">
              <a:spcBef>
                <a:spcPts val="0"/>
              </a:spcBef>
              <a:spcAft>
                <a:spcPts val="0"/>
              </a:spcAft>
              <a:buNone/>
            </a:pPr>
            <a:r>
              <a:rPr lang="en-US" sz="1600" b="0" i="0" dirty="0">
                <a:solidFill>
                  <a:srgbClr val="595959"/>
                </a:solidFill>
              </a:rPr>
              <a:t>independent hashes fused into a 64-bit key</a:t>
            </a:r>
          </a:p>
        </p:txBody>
      </p:sp>
      <p:sp>
        <p:nvSpPr>
          <p:cNvPr id="104" name="Stat 104"/>
          <p:cNvSpPr/>
          <p:nvPr/>
        </p:nvSpPr>
        <p:spPr>
          <a:xfrm>
            <a:off x="7950000" y="4300000"/>
            <a:ext cx="3350000" cy="1600000"/>
          </a:xfrm>
          <a:prstGeom prst="roundRect">
            <a:avLst>
              <a:gd name="adj" fmla="val 8000"/>
            </a:avLst>
          </a:prstGeom>
          <a:solidFill>
            <a:srgbClr val="FFFFFF"/>
          </a:solidFill>
          <a:ln w="12700">
            <a:solidFill>
              <a:srgbClr val="D0D0D0"/>
            </a:solidFill>
          </a:ln>
        </p:spPr>
        <p:txBody>
          <a:bodyPr wrap="square" lIns="91440" tIns="91440" rIns="91440" bIns="91440" rtlCol="0" anchor="ctr">
            <a:noAutofit/>
          </a:bodyPr>
          <a:lstStyle/>
          <a:p>
            <a:pPr marL="0" indent="0" algn="ctr">
              <a:spcBef>
                <a:spcPts val="0"/>
              </a:spcBef>
              <a:spcAft>
                <a:spcPts val="200"/>
              </a:spcAft>
              <a:buNone/>
            </a:pPr>
            <a:r>
              <a:rPr lang="en-US" sz="4400" b="1" i="0" dirty="0">
                <a:solidFill>
                  <a:srgbClr val="C00000"/>
                </a:solidFill>
              </a:rPr>
              <a:t>0</a:t>
            </a:r>
          </a:p>
          <a:p>
            <a:pPr marL="0" indent="0" algn="ctr">
              <a:spcBef>
                <a:spcPts val="0"/>
              </a:spcBef>
              <a:spcAft>
                <a:spcPts val="0"/>
              </a:spcAft>
              <a:buNone/>
            </a:pPr>
            <a:r>
              <a:rPr lang="en-US" sz="1600" b="0" i="0" dirty="0">
                <a:solidFill>
                  <a:srgbClr val="595959"/>
                </a:solidFill>
              </a:rPr>
              <a:t>java.util classes used</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105" name="Intro 105"/>
          <p:cNvSpPr txBox="1"/>
          <p:nvPr/>
        </p:nvSpPr>
        <p:spPr>
          <a:xfrm>
            <a:off x="1900000" y="2300000"/>
            <a:ext cx="5300000" cy="4000000"/>
          </a:xfrm>
          <a:prstGeom prst="rect">
            <a:avLst/>
          </a:prstGeom>
          <a:noFill/>
          <a:ln>
            <a:noFill/>
          </a:ln>
        </p:spPr>
        <p:txBody>
          <a:bodyPr wrap="square" lIns="91440" tIns="91440" rIns="91440" bIns="91440" rtlCol="0" anchor="t">
            <a:noAutofit/>
          </a:bodyPr>
          <a:lstStyle/>
          <a:p>
            <a:pPr marL="285750" indent="-285750" algn="l">
              <a:spcBef>
                <a:spcPts val="0"/>
              </a:spcBef>
              <a:spcAft>
                <a:spcPts val="1200"/>
              </a:spcAft>
              <a:buFont typeface="Arial"/>
              <a:buChar char="•"/>
            </a:pPr>
            <a:r>
              <a:rPr lang="en-US" sz="1800" b="0" i="0" dirty="0">
                <a:solidFill>
                  <a:srgbClr val="262626"/>
                </a:solidFill>
              </a:rPr>
              <a:t>Plagiarism means presenting someone else's text as your own; checking many documents by eye is slow and inconsistent.</a:t>
            </a:r>
          </a:p>
          <a:p>
            <a:pPr marL="285750" indent="-285750" algn="l">
              <a:spcBef>
                <a:spcPts val="0"/>
              </a:spcBef>
              <a:spcAft>
                <a:spcPts val="1200"/>
              </a:spcAft>
              <a:buFont typeface="Arial"/>
              <a:buChar char="•"/>
            </a:pPr>
            <a:r>
              <a:rPr lang="en-US" sz="1800" b="0" i="0" dirty="0">
                <a:solidFill>
                  <a:srgbClr val="262626"/>
                </a:solidFill>
              </a:rPr>
              <a:t>Naive matching compares every window of one document with every window of the other: O(n x m x k) work.</a:t>
            </a:r>
          </a:p>
          <a:p>
            <a:pPr marL="285750" indent="-285750" algn="l">
              <a:spcBef>
                <a:spcPts val="0"/>
              </a:spcBef>
              <a:spcAft>
                <a:spcPts val="1200"/>
              </a:spcAft>
              <a:buFont typeface="Arial"/>
              <a:buChar char="•"/>
            </a:pPr>
            <a:r>
              <a:rPr lang="en-US" sz="1800" b="0" i="0" dirty="0">
                <a:solidFill>
                  <a:srgbClr val="262626"/>
                </a:solidFill>
              </a:rPr>
              <a:t>A rolling hash updates the hash of the next window in O(1), so a whole document is hashed in O(n).</a:t>
            </a:r>
          </a:p>
          <a:p>
            <a:pPr marL="285750" indent="-285750" algn="l">
              <a:spcBef>
                <a:spcPts val="0"/>
              </a:spcBef>
              <a:spcAft>
                <a:spcPts val="1200"/>
              </a:spcAft>
              <a:buFont typeface="Arial"/>
              <a:buChar char="•"/>
            </a:pPr>
            <a:r>
              <a:rPr lang="en-US" sz="1800" b="0" i="0" dirty="0">
                <a:solidFill>
                  <a:srgbClr val="262626"/>
                </a:solidFill>
              </a:rPr>
              <a:t>We index the window hashes of one document in a custom hash table and look up the windows of the other, giving sub-quadratic comparison.</a:t>
            </a:r>
          </a:p>
        </p:txBody>
      </p:sp>
      <p:sp>
        <p:nvSpPr>
          <p:cNvPr id="106" name="Formula 106"/>
          <p:cNvSpPr/>
          <p:nvPr/>
        </p:nvSpPr>
        <p:spPr>
          <a:xfrm>
            <a:off x="7500000" y="2300000"/>
            <a:ext cx="4000000" cy="3900000"/>
          </a:xfrm>
          <a:prstGeom prst="roundRect">
            <a:avLst>
              <a:gd name="adj" fmla="val 4000"/>
            </a:avLst>
          </a:prstGeom>
          <a:solidFill>
            <a:srgbClr val="F2F2F2"/>
          </a:solidFill>
          <a:ln>
            <a:noFill/>
          </a:ln>
        </p:spPr>
        <p:txBody>
          <a:bodyPr wrap="square" lIns="228600" tIns="228600" rIns="228600" bIns="228600" rtlCol="0" anchor="t">
            <a:noAutofit/>
          </a:bodyPr>
          <a:lstStyle/>
          <a:p>
            <a:pPr marL="0" indent="0" algn="l">
              <a:spcBef>
                <a:spcPts val="0"/>
              </a:spcBef>
              <a:spcAft>
                <a:spcPts val="600"/>
              </a:spcAft>
              <a:buNone/>
            </a:pPr>
            <a:r>
              <a:rPr lang="en-US" sz="2200" b="1" i="0" dirty="0">
                <a:solidFill>
                  <a:srgbClr val="C00000"/>
                </a:solidFill>
              </a:rPr>
              <a:t>Rolling update</a:t>
            </a:r>
          </a:p>
          <a:p>
            <a:pPr marL="0" indent="0" algn="l">
              <a:spcBef>
                <a:spcPts val="0"/>
              </a:spcBef>
              <a:spcAft>
                <a:spcPts val="900"/>
              </a:spcAft>
              <a:buNone/>
            </a:pPr>
            <a:r>
              <a:rPr lang="en-US" sz="1500" b="0" i="0" dirty="0">
                <a:solidFill>
                  <a:srgbClr val="262626"/>
                </a:solidFill>
                <a:latin typeface="Consolas"/>
                <a:cs typeface="Consolas"/>
              </a:rPr>
              <a:t>H(i+1) = ((H(i) - c[i] * B^(k-1)) * B + c[i+k]) mod M</a:t>
            </a:r>
          </a:p>
          <a:p>
            <a:pPr marL="285750" indent="-285750" algn="l">
              <a:spcBef>
                <a:spcPts val="0"/>
              </a:spcBef>
              <a:spcAft>
                <a:spcPts val="500"/>
              </a:spcAft>
              <a:buFont typeface="Arial"/>
              <a:buChar char="•"/>
            </a:pPr>
            <a:r>
              <a:rPr lang="en-US" sz="1600" b="0" i="0" dirty="0">
                <a:solidFill>
                  <a:srgbClr val="262626"/>
                </a:solidFill>
              </a:rPr>
              <a:t>Window k = 25 normalised characters</a:t>
            </a:r>
          </a:p>
          <a:p>
            <a:pPr marL="285750" indent="-285750" algn="l">
              <a:spcBef>
                <a:spcPts val="0"/>
              </a:spcBef>
              <a:spcAft>
                <a:spcPts val="500"/>
              </a:spcAft>
              <a:buFont typeface="Arial"/>
              <a:buChar char="•"/>
            </a:pPr>
            <a:r>
              <a:rPr lang="en-US" sz="1600" b="0" i="0" dirty="0">
                <a:solidFill>
                  <a:srgbClr val="262626"/>
                </a:solidFill>
              </a:rPr>
              <a:t>Pair 1: base 257, mod 1,000,000,007</a:t>
            </a:r>
          </a:p>
          <a:p>
            <a:pPr marL="285750" indent="-285750" algn="l">
              <a:spcBef>
                <a:spcPts val="0"/>
              </a:spcBef>
              <a:spcAft>
                <a:spcPts val="500"/>
              </a:spcAft>
              <a:buFont typeface="Arial"/>
              <a:buChar char="•"/>
            </a:pPr>
            <a:r>
              <a:rPr lang="en-US" sz="1600" b="0" i="0" dirty="0">
                <a:solidFill>
                  <a:srgbClr val="262626"/>
                </a:solidFill>
              </a:rPr>
              <a:t>Pair 2: base 131, mod 998,244,353</a:t>
            </a:r>
          </a:p>
          <a:p>
            <a:pPr marL="285750" indent="-285750" algn="l">
              <a:spcBef>
                <a:spcPts val="0"/>
              </a:spcBef>
              <a:spcAft>
                <a:spcPts val="500"/>
              </a:spcAft>
              <a:buFont typeface="Arial"/>
              <a:buChar char="•"/>
            </a:pPr>
            <a:r>
              <a:rPr lang="en-US" sz="1600" b="0" i="0" dirty="0">
                <a:solidFill>
                  <a:srgbClr val="262626"/>
                </a:solidFill>
                <a:latin typeface="Consolas"/>
                <a:cs typeface="Consolas"/>
              </a:rPr>
              <a:t>Key = (h1 &lt;&lt; 32) | h2</a:t>
            </a:r>
          </a:p>
          <a:p>
            <a:pPr marL="285750" indent="-285750" algn="l">
              <a:spcBef>
                <a:spcPts val="0"/>
              </a:spcBef>
              <a:spcAft>
                <a:spcPts val="0"/>
              </a:spcAft>
              <a:buFont typeface="Arial"/>
              <a:buChar char="•"/>
            </a:pPr>
            <a:r>
              <a:rPr lang="en-US" sz="1600" b="0" i="0" dirty="0">
                <a:solidFill>
                  <a:srgbClr val="262626"/>
                </a:solidFill>
              </a:rPr>
              <a:t>Every hit is re-checked character by character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graphicFrame>
        <p:nvGraphicFramePr>
          <p:cNvPr id="107" name="Table 107"/>
          <p:cNvGraphicFramePr>
            <a:graphicFrameLocks noGrp="1"/>
          </p:cNvGraphicFramePr>
          <p:nvPr/>
        </p:nvGraphicFramePr>
        <p:xfrm>
          <a:off x="700000" y="1150000"/>
          <a:ext cx="10800000" cy="4800000"/>
        </p:xfrm>
        <a:graphic>
          <a:graphicData uri="http://schemas.openxmlformats.org/drawingml/2006/table">
            <a:tbl>
              <a:tblPr firstRow="1"/>
              <a:tblGrid>
                <a:gridCol w="3000000">
                  <a:extLst>
                    <a:ext uri="{9D8B030D-6E8A-4147-A177-3AD203B41FA5}">
                      <a16:colId xmlns:a16="http://schemas.microsoft.com/office/drawing/2014/main" val="20000"/>
                    </a:ext>
                  </a:extLst>
                </a:gridCol>
                <a:gridCol w="4300000">
                  <a:extLst>
                    <a:ext uri="{9D8B030D-6E8A-4147-A177-3AD203B41FA5}">
                      <a16:colId xmlns:a16="http://schemas.microsoft.com/office/drawing/2014/main" val="20001"/>
                    </a:ext>
                  </a:extLst>
                </a:gridCol>
                <a:gridCol w="3500000">
                  <a:extLst>
                    <a:ext uri="{9D8B030D-6E8A-4147-A177-3AD203B41FA5}">
                      <a16:colId xmlns:a16="http://schemas.microsoft.com/office/drawing/2014/main" val="20002"/>
                    </a:ext>
                  </a:extLst>
                </a:gridCol>
              </a:tblGrid>
              <a:tr h="800000">
                <a:tc>
                  <a:txBody>
                    <a:bodyPr/>
                    <a:lstStyle/>
                    <a:p>
                      <a:pPr algn="l"/>
                      <a:r>
                        <a:rPr lang="en-US" sz="1500" b="1" i="0" dirty="0">
                          <a:solidFill>
                            <a:srgbClr val="FFFFFF"/>
                          </a:solidFill>
                        </a:rPr>
                        <a:t>Technique</a:t>
                      </a:r>
                    </a:p>
                  </a:txBody>
                  <a:tcPr anchor="ctr">
                    <a:lnL w="0">
                      <a:noFill/>
                    </a:lnL>
                    <a:lnR w="0">
                      <a:noFill/>
                    </a:lnR>
                    <a:lnT w="0">
                      <a:noFill/>
                    </a:lnT>
                    <a:lnB w="6350">
                      <a:solidFill>
                        <a:srgbClr val="D0D0D0"/>
                      </a:solidFill>
                    </a:lnB>
                    <a:solidFill>
                      <a:srgbClr val="C00000"/>
                    </a:solidFill>
                  </a:tcPr>
                </a:tc>
                <a:tc>
                  <a:txBody>
                    <a:bodyPr/>
                    <a:lstStyle/>
                    <a:p>
                      <a:pPr algn="l"/>
                      <a:r>
                        <a:rPr lang="en-US" sz="1500" b="1" i="0" dirty="0">
                          <a:solidFill>
                            <a:srgbClr val="FFFFFF"/>
                          </a:solidFill>
                        </a:rPr>
                        <a:t>Core idea</a:t>
                      </a:r>
                    </a:p>
                  </a:txBody>
                  <a:tcPr anchor="ctr">
                    <a:lnL w="0">
                      <a:noFill/>
                    </a:lnL>
                    <a:lnR w="0">
                      <a:noFill/>
                    </a:lnR>
                    <a:lnT w="0">
                      <a:noFill/>
                    </a:lnT>
                    <a:lnB w="6350">
                      <a:solidFill>
                        <a:srgbClr val="D0D0D0"/>
                      </a:solidFill>
                    </a:lnB>
                    <a:solidFill>
                      <a:srgbClr val="C00000"/>
                    </a:solidFill>
                  </a:tcPr>
                </a:tc>
                <a:tc>
                  <a:txBody>
                    <a:bodyPr/>
                    <a:lstStyle/>
                    <a:p>
                      <a:pPr algn="l"/>
                      <a:r>
                        <a:rPr lang="en-US" sz="1500" b="1" i="0" dirty="0">
                          <a:solidFill>
                            <a:srgbClr val="FFFFFF"/>
                          </a:solidFill>
                        </a:rPr>
                        <a:t>Relevance to this project</a:t>
                      </a:r>
                    </a:p>
                  </a:txBody>
                  <a:tcPr anchor="ctr">
                    <a:lnL w="0">
                      <a:noFill/>
                    </a:lnL>
                    <a:lnR w="0">
                      <a:noFill/>
                    </a:lnR>
                    <a:lnT w="0">
                      <a:noFill/>
                    </a:lnT>
                    <a:lnB w="6350">
                      <a:solidFill>
                        <a:srgbClr val="D0D0D0"/>
                      </a:solidFill>
                    </a:lnB>
                    <a:solidFill>
                      <a:srgbClr val="C00000"/>
                    </a:solidFill>
                  </a:tcPr>
                </a:tc>
                <a:extLst>
                  <a:ext uri="{0D108BD9-81ED-4DB2-BD59-A6C34878D82A}">
                    <a16:rowId xmlns:a16="http://schemas.microsoft.com/office/drawing/2014/main" val="10000"/>
                  </a:ext>
                </a:extLst>
              </a:tr>
              <a:tr h="800000">
                <a:tc>
                  <a:txBody>
                    <a:bodyPr/>
                    <a:lstStyle/>
                    <a:p>
                      <a:pPr algn="l"/>
                      <a:r>
                        <a:rPr lang="en-US" sz="1500" b="0" i="0" dirty="0">
                          <a:solidFill>
                            <a:srgbClr val="262626"/>
                          </a:solidFill>
                        </a:rPr>
                        <a:t>Rabin-Karp (Karp &amp; Rabin, 1987)</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pPr algn="l"/>
                      <a:r>
                        <a:rPr lang="en-US" sz="1500" b="0" i="0" dirty="0">
                          <a:solidFill>
                            <a:srgbClr val="262626"/>
                          </a:solidFill>
                        </a:rPr>
                        <a:t>Polynomial rolling hash over a sliding window; O(1) update per shift</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pPr algn="l"/>
                      <a:r>
                        <a:rPr lang="en-US" sz="1500" b="0" i="0" dirty="0">
                          <a:solidFill>
                            <a:srgbClr val="262626"/>
                          </a:solidFill>
                        </a:rPr>
                        <a:t>Core algorithm of our system</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extLst>
                  <a:ext uri="{0D108BD9-81ED-4DB2-BD59-A6C34878D82A}">
                    <a16:rowId xmlns:a16="http://schemas.microsoft.com/office/drawing/2014/main" val="10001"/>
                  </a:ext>
                </a:extLst>
              </a:tr>
              <a:tr h="800000">
                <a:tc>
                  <a:txBody>
                    <a:bodyPr/>
                    <a:lstStyle/>
                    <a:p>
                      <a:pPr algn="l"/>
                      <a:r>
                        <a:rPr lang="en-US" sz="1500" b="0" i="0" dirty="0">
                          <a:solidFill>
                            <a:srgbClr val="262626"/>
                          </a:solidFill>
                        </a:rPr>
                        <a:t>KMP / Boyer-Moore (1977)</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2F2F2"/>
                    </a:solidFill>
                  </a:tcPr>
                </a:tc>
                <a:tc>
                  <a:txBody>
                    <a:bodyPr/>
                    <a:lstStyle/>
                    <a:p>
                      <a:pPr algn="l"/>
                      <a:r>
                        <a:rPr lang="en-US" sz="1500" b="0" i="0" dirty="0">
                          <a:solidFill>
                            <a:srgbClr val="262626"/>
                          </a:solidFill>
                        </a:rPr>
                        <a:t>Deterministic exact matching of a single pattern</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2F2F2"/>
                    </a:solidFill>
                  </a:tcPr>
                </a:tc>
                <a:tc>
                  <a:txBody>
                    <a:bodyPr/>
                    <a:lstStyle/>
                    <a:p>
                      <a:pPr algn="l"/>
                      <a:r>
                        <a:rPr lang="en-US" sz="1500" b="0" i="0" dirty="0">
                          <a:solidFill>
                            <a:srgbClr val="262626"/>
                          </a:solidFill>
                        </a:rPr>
                        <a:t>Fast, but rerun per pattern; awkward for many documents</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2F2F2"/>
                    </a:solidFill>
                  </a:tcPr>
                </a:tc>
                <a:extLst>
                  <a:ext uri="{0D108BD9-81ED-4DB2-BD59-A6C34878D82A}">
                    <a16:rowId xmlns:a16="http://schemas.microsoft.com/office/drawing/2014/main" val="10002"/>
                  </a:ext>
                </a:extLst>
              </a:tr>
              <a:tr h="800000">
                <a:tc>
                  <a:txBody>
                    <a:bodyPr/>
                    <a:lstStyle/>
                    <a:p>
                      <a:pPr algn="l"/>
                      <a:r>
                        <a:rPr lang="en-US" sz="1500" b="0" i="0" dirty="0">
                          <a:solidFill>
                            <a:srgbClr val="262626"/>
                          </a:solidFill>
                        </a:rPr>
                        <a:t>Manber fingerprints (1994)</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pPr algn="l"/>
                      <a:r>
                        <a:rPr lang="en-US" sz="1500" b="0" i="0" dirty="0">
                          <a:solidFill>
                            <a:srgbClr val="262626"/>
                          </a:solidFill>
                        </a:rPr>
                        <a:t>Hashed anchor substrings to find similar files in a file system</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pPr algn="l"/>
                      <a:r>
                        <a:rPr lang="en-US" sz="1500" b="0" i="0" dirty="0">
                          <a:solidFill>
                            <a:srgbClr val="262626"/>
                          </a:solidFill>
                        </a:rPr>
                        <a:t>Compare documents through hashed substrings</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extLst>
                  <a:ext uri="{0D108BD9-81ED-4DB2-BD59-A6C34878D82A}">
                    <a16:rowId xmlns:a16="http://schemas.microsoft.com/office/drawing/2014/main" val="10003"/>
                  </a:ext>
                </a:extLst>
              </a:tr>
              <a:tr h="800000">
                <a:tc>
                  <a:txBody>
                    <a:bodyPr/>
                    <a:lstStyle/>
                    <a:p>
                      <a:pPr algn="l"/>
                      <a:r>
                        <a:rPr lang="en-US" sz="1500" b="0" i="0" dirty="0">
                          <a:solidFill>
                            <a:srgbClr val="262626"/>
                          </a:solidFill>
                        </a:rPr>
                        <a:t>Shingling (Broder, 1997)</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2F2F2"/>
                    </a:solidFill>
                  </a:tcPr>
                </a:tc>
                <a:tc>
                  <a:txBody>
                    <a:bodyPr/>
                    <a:lstStyle/>
                    <a:p>
                      <a:pPr algn="l"/>
                      <a:r>
                        <a:rPr lang="en-US" sz="1500" b="0" i="0" dirty="0">
                          <a:solidFill>
                            <a:srgbClr val="262626"/>
                          </a:solidFill>
                        </a:rPr>
                        <a:t>Documents as sets of w-shingles; resemblance via Jaccard</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2F2F2"/>
                    </a:solidFill>
                  </a:tcPr>
                </a:tc>
                <a:tc>
                  <a:txBody>
                    <a:bodyPr/>
                    <a:lstStyle/>
                    <a:p>
                      <a:pPr algn="l"/>
                      <a:r>
                        <a:rPr lang="en-US" sz="1500" b="0" i="0" dirty="0">
                          <a:solidFill>
                            <a:srgbClr val="262626"/>
                          </a:solidFill>
                        </a:rPr>
                        <a:t>Basis of our similarity percentage</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2F2F2"/>
                    </a:solidFill>
                  </a:tcPr>
                </a:tc>
                <a:extLst>
                  <a:ext uri="{0D108BD9-81ED-4DB2-BD59-A6C34878D82A}">
                    <a16:rowId xmlns:a16="http://schemas.microsoft.com/office/drawing/2014/main" val="10004"/>
                  </a:ext>
                </a:extLst>
              </a:tr>
              <a:tr h="800000">
                <a:tc>
                  <a:txBody>
                    <a:bodyPr/>
                    <a:lstStyle/>
                    <a:p>
                      <a:pPr algn="l"/>
                      <a:r>
                        <a:rPr lang="en-US" sz="1500" b="0" i="0" dirty="0">
                          <a:solidFill>
                            <a:srgbClr val="262626"/>
                          </a:solidFill>
                        </a:rPr>
                        <a:t>Winnowing / MOSS (Schleimer et al., 2003)</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pPr algn="l"/>
                      <a:r>
                        <a:rPr lang="en-US" sz="1500" b="0" i="0" dirty="0">
                          <a:solidFill>
                            <a:srgbClr val="262626"/>
                          </a:solidFill>
                        </a:rPr>
                        <a:t>Keep the minimum hash per window; guarantees matches above a length threshold</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pPr algn="l"/>
                      <a:r>
                        <a:rPr lang="en-US" sz="1500" b="0" i="0" dirty="0">
                          <a:solidFill>
                            <a:srgbClr val="262626"/>
                          </a:solidFill>
                        </a:rPr>
                        <a:t>Planned future optimisation</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108" name="Problem 108"/>
          <p:cNvSpPr/>
          <p:nvPr/>
        </p:nvSpPr>
        <p:spPr>
          <a:xfrm>
            <a:off x="700000" y="1150000"/>
            <a:ext cx="4500000" cy="5000000"/>
          </a:xfrm>
          <a:prstGeom prst="roundRect">
            <a:avLst>
              <a:gd name="adj" fmla="val 4000"/>
            </a:avLst>
          </a:prstGeom>
          <a:solidFill>
            <a:srgbClr val="F2F2F2"/>
          </a:solidFill>
          <a:ln>
            <a:noFill/>
          </a:ln>
        </p:spPr>
        <p:txBody>
          <a:bodyPr wrap="square" lIns="228600" tIns="228600" rIns="228600" bIns="228600" rtlCol="0" anchor="t">
            <a:noAutofit/>
          </a:bodyPr>
          <a:lstStyle/>
          <a:p>
            <a:pPr marL="0" indent="0" algn="l">
              <a:spcBef>
                <a:spcPts val="0"/>
              </a:spcBef>
              <a:spcAft>
                <a:spcPts val="800"/>
              </a:spcAft>
              <a:buNone/>
            </a:pPr>
            <a:r>
              <a:rPr lang="en-US" sz="2200" b="1" i="0" dirty="0">
                <a:solidFill>
                  <a:srgbClr val="C00000"/>
                </a:solidFill>
              </a:rPr>
              <a:t>Problem Statement</a:t>
            </a:r>
          </a:p>
          <a:p>
            <a:pPr marL="0" indent="0" algn="l">
              <a:lnSpc>
                <a:spcPct val="110000"/>
              </a:lnSpc>
              <a:spcBef>
                <a:spcPts val="0"/>
              </a:spcBef>
              <a:spcAft>
                <a:spcPts val="600"/>
              </a:spcAft>
              <a:buNone/>
            </a:pPr>
            <a:r>
              <a:rPr lang="en-US" sz="1800" b="0" i="0" dirty="0">
                <a:solidFill>
                  <a:srgbClr val="262626"/>
                </a:solidFill>
              </a:rPr>
              <a:t>Develop a plagiarism detection system that identifies copied passages using rolling hash techniques. The application compares multiple documents by generating polynomial hash values for sliding windows of text, handles hash collisions, computes similarity percentages and highlights duplicated passages. All data structures are built from scratch, without java.util.*.</a:t>
            </a:r>
          </a:p>
        </p:txBody>
      </p:sp>
      <p:sp>
        <p:nvSpPr>
          <p:cNvPr id="109" name="Num 109"/>
          <p:cNvSpPr/>
          <p:nvPr/>
        </p:nvSpPr>
        <p:spPr>
          <a:xfrm>
            <a:off x="5500000" y="1190000"/>
            <a:ext cx="560000" cy="560000"/>
          </a:xfrm>
          <a:prstGeom prst="ellipse">
            <a:avLst/>
          </a:prstGeom>
          <a:solidFill>
            <a:srgbClr val="C00000"/>
          </a:solidFill>
          <a:ln>
            <a:noFill/>
          </a:ln>
        </p:spPr>
        <p:txBody>
          <a:bodyPr wrap="square" lIns="0" tIns="0" rIns="0" bIns="0" rtlCol="0" anchor="ctr">
            <a:noAutofit/>
          </a:bodyPr>
          <a:lstStyle/>
          <a:p>
            <a:pPr marL="0" indent="0" algn="ctr">
              <a:spcBef>
                <a:spcPts val="0"/>
              </a:spcBef>
              <a:spcAft>
                <a:spcPts val="0"/>
              </a:spcAft>
              <a:buNone/>
            </a:pPr>
            <a:r>
              <a:rPr lang="en-US" sz="1800" b="1" i="0" dirty="0">
                <a:solidFill>
                  <a:srgbClr val="FFFFFF"/>
                </a:solidFill>
              </a:rPr>
              <a:t>1</a:t>
            </a:r>
          </a:p>
        </p:txBody>
      </p:sp>
      <p:sp>
        <p:nvSpPr>
          <p:cNvPr id="110" name="Obj 110"/>
          <p:cNvSpPr txBox="1"/>
          <p:nvPr/>
        </p:nvSpPr>
        <p:spPr>
          <a:xfrm>
            <a:off x="6200000" y="1150000"/>
            <a:ext cx="5300000" cy="640000"/>
          </a:xfrm>
          <a:prstGeom prst="rect">
            <a:avLst/>
          </a:prstGeom>
          <a:noFill/>
          <a:ln>
            <a:noFill/>
          </a:ln>
        </p:spPr>
        <p:txBody>
          <a:bodyPr wrap="square" lIns="91440" tIns="91440" rIns="91440" bIns="91440" rtlCol="0" anchor="ctr">
            <a:noAutofit/>
          </a:bodyPr>
          <a:lstStyle/>
          <a:p>
            <a:pPr marL="0" indent="0" algn="l">
              <a:spcBef>
                <a:spcPts val="0"/>
              </a:spcBef>
              <a:spcAft>
                <a:spcPts val="0"/>
              </a:spcAft>
              <a:buNone/>
            </a:pPr>
            <a:r>
              <a:rPr lang="en-US" sz="1800" b="0" i="0" dirty="0">
                <a:solidFill>
                  <a:srgbClr val="262626"/>
                </a:solidFill>
              </a:rPr>
              <a:t>Generate rolling polynomial hashes for sliding windows (Rabin-Karp)</a:t>
            </a:r>
          </a:p>
        </p:txBody>
      </p:sp>
      <p:sp>
        <p:nvSpPr>
          <p:cNvPr id="111" name="Num 111"/>
          <p:cNvSpPr/>
          <p:nvPr/>
        </p:nvSpPr>
        <p:spPr>
          <a:xfrm>
            <a:off x="5500000" y="2030000"/>
            <a:ext cx="560000" cy="560000"/>
          </a:xfrm>
          <a:prstGeom prst="ellipse">
            <a:avLst/>
          </a:prstGeom>
          <a:solidFill>
            <a:srgbClr val="C00000"/>
          </a:solidFill>
          <a:ln>
            <a:noFill/>
          </a:ln>
        </p:spPr>
        <p:txBody>
          <a:bodyPr wrap="square" lIns="0" tIns="0" rIns="0" bIns="0" rtlCol="0" anchor="ctr">
            <a:noAutofit/>
          </a:bodyPr>
          <a:lstStyle/>
          <a:p>
            <a:pPr marL="0" indent="0" algn="ctr">
              <a:spcBef>
                <a:spcPts val="0"/>
              </a:spcBef>
              <a:spcAft>
                <a:spcPts val="0"/>
              </a:spcAft>
              <a:buNone/>
            </a:pPr>
            <a:r>
              <a:rPr lang="en-US" sz="1800" b="1" i="0" dirty="0">
                <a:solidFill>
                  <a:srgbClr val="FFFFFF"/>
                </a:solidFill>
              </a:rPr>
              <a:t>2</a:t>
            </a:r>
          </a:p>
        </p:txBody>
      </p:sp>
      <p:sp>
        <p:nvSpPr>
          <p:cNvPr id="112" name="Obj 112"/>
          <p:cNvSpPr txBox="1"/>
          <p:nvPr/>
        </p:nvSpPr>
        <p:spPr>
          <a:xfrm>
            <a:off x="6200000" y="1990000"/>
            <a:ext cx="5300000" cy="640000"/>
          </a:xfrm>
          <a:prstGeom prst="rect">
            <a:avLst/>
          </a:prstGeom>
          <a:noFill/>
          <a:ln>
            <a:noFill/>
          </a:ln>
        </p:spPr>
        <p:txBody>
          <a:bodyPr wrap="square" lIns="91440" tIns="91440" rIns="91440" bIns="91440" rtlCol="0" anchor="ctr">
            <a:noAutofit/>
          </a:bodyPr>
          <a:lstStyle/>
          <a:p>
            <a:pPr marL="0" indent="0" algn="l">
              <a:spcBef>
                <a:spcPts val="0"/>
              </a:spcBef>
              <a:spcAft>
                <a:spcPts val="0"/>
              </a:spcAft>
              <a:buNone/>
            </a:pPr>
            <a:r>
              <a:rPr lang="en-US" sz="1800" b="0" i="0" dirty="0">
                <a:solidFill>
                  <a:srgbClr val="262626"/>
                </a:solidFill>
              </a:rPr>
              <a:t>Compare multiple documents pair by pair through a hash index</a:t>
            </a:r>
          </a:p>
        </p:txBody>
      </p:sp>
      <p:sp>
        <p:nvSpPr>
          <p:cNvPr id="113" name="Num 113"/>
          <p:cNvSpPr/>
          <p:nvPr/>
        </p:nvSpPr>
        <p:spPr>
          <a:xfrm>
            <a:off x="5500000" y="2870000"/>
            <a:ext cx="560000" cy="560000"/>
          </a:xfrm>
          <a:prstGeom prst="ellipse">
            <a:avLst/>
          </a:prstGeom>
          <a:solidFill>
            <a:srgbClr val="C00000"/>
          </a:solidFill>
          <a:ln>
            <a:noFill/>
          </a:ln>
        </p:spPr>
        <p:txBody>
          <a:bodyPr wrap="square" lIns="0" tIns="0" rIns="0" bIns="0" rtlCol="0" anchor="ctr">
            <a:noAutofit/>
          </a:bodyPr>
          <a:lstStyle/>
          <a:p>
            <a:pPr marL="0" indent="0" algn="ctr">
              <a:spcBef>
                <a:spcPts val="0"/>
              </a:spcBef>
              <a:spcAft>
                <a:spcPts val="0"/>
              </a:spcAft>
              <a:buNone/>
            </a:pPr>
            <a:r>
              <a:rPr lang="en-US" sz="1800" b="1" i="0" dirty="0">
                <a:solidFill>
                  <a:srgbClr val="FFFFFF"/>
                </a:solidFill>
              </a:rPr>
              <a:t>3</a:t>
            </a:r>
          </a:p>
        </p:txBody>
      </p:sp>
      <p:sp>
        <p:nvSpPr>
          <p:cNvPr id="114" name="Obj 114"/>
          <p:cNvSpPr txBox="1"/>
          <p:nvPr/>
        </p:nvSpPr>
        <p:spPr>
          <a:xfrm>
            <a:off x="6200000" y="2830000"/>
            <a:ext cx="5300000" cy="640000"/>
          </a:xfrm>
          <a:prstGeom prst="rect">
            <a:avLst/>
          </a:prstGeom>
          <a:noFill/>
          <a:ln>
            <a:noFill/>
          </a:ln>
        </p:spPr>
        <p:txBody>
          <a:bodyPr wrap="square" lIns="91440" tIns="91440" rIns="91440" bIns="91440" rtlCol="0" anchor="ctr">
            <a:noAutofit/>
          </a:bodyPr>
          <a:lstStyle/>
          <a:p>
            <a:pPr marL="0" indent="0" algn="l">
              <a:spcBef>
                <a:spcPts val="0"/>
              </a:spcBef>
              <a:spcAft>
                <a:spcPts val="0"/>
              </a:spcAft>
              <a:buNone/>
            </a:pPr>
            <a:r>
              <a:rPr lang="en-US" sz="1800" b="0" i="0" dirty="0">
                <a:solidFill>
                  <a:srgbClr val="262626"/>
                </a:solidFill>
              </a:rPr>
              <a:t>Prevent false positives with double hashing and verification</a:t>
            </a:r>
          </a:p>
        </p:txBody>
      </p:sp>
      <p:sp>
        <p:nvSpPr>
          <p:cNvPr id="115" name="Num 115"/>
          <p:cNvSpPr/>
          <p:nvPr/>
        </p:nvSpPr>
        <p:spPr>
          <a:xfrm>
            <a:off x="5500000" y="3710000"/>
            <a:ext cx="560000" cy="560000"/>
          </a:xfrm>
          <a:prstGeom prst="ellipse">
            <a:avLst/>
          </a:prstGeom>
          <a:solidFill>
            <a:srgbClr val="C00000"/>
          </a:solidFill>
          <a:ln>
            <a:noFill/>
          </a:ln>
        </p:spPr>
        <p:txBody>
          <a:bodyPr wrap="square" lIns="0" tIns="0" rIns="0" bIns="0" rtlCol="0" anchor="ctr">
            <a:noAutofit/>
          </a:bodyPr>
          <a:lstStyle/>
          <a:p>
            <a:pPr marL="0" indent="0" algn="ctr">
              <a:spcBef>
                <a:spcPts val="0"/>
              </a:spcBef>
              <a:spcAft>
                <a:spcPts val="0"/>
              </a:spcAft>
              <a:buNone/>
            </a:pPr>
            <a:r>
              <a:rPr lang="en-US" sz="1800" b="1" i="0" dirty="0">
                <a:solidFill>
                  <a:srgbClr val="FFFFFF"/>
                </a:solidFill>
              </a:rPr>
              <a:t>4</a:t>
            </a:r>
          </a:p>
        </p:txBody>
      </p:sp>
      <p:sp>
        <p:nvSpPr>
          <p:cNvPr id="116" name="Obj 116"/>
          <p:cNvSpPr txBox="1"/>
          <p:nvPr/>
        </p:nvSpPr>
        <p:spPr>
          <a:xfrm>
            <a:off x="6200000" y="3670000"/>
            <a:ext cx="5300000" cy="640000"/>
          </a:xfrm>
          <a:prstGeom prst="rect">
            <a:avLst/>
          </a:prstGeom>
          <a:noFill/>
          <a:ln>
            <a:noFill/>
          </a:ln>
        </p:spPr>
        <p:txBody>
          <a:bodyPr wrap="square" lIns="91440" tIns="91440" rIns="91440" bIns="91440" rtlCol="0" anchor="ctr">
            <a:noAutofit/>
          </a:bodyPr>
          <a:lstStyle/>
          <a:p>
            <a:pPr marL="0" indent="0" algn="l">
              <a:spcBef>
                <a:spcPts val="0"/>
              </a:spcBef>
              <a:spcAft>
                <a:spcPts val="0"/>
              </a:spcAft>
              <a:buNone/>
            </a:pPr>
            <a:r>
              <a:rPr lang="en-US" sz="1800" b="0" i="0" dirty="0">
                <a:solidFill>
                  <a:srgbClr val="262626"/>
                </a:solidFill>
              </a:rPr>
              <a:t>Compute similarity percentages for every document pair</a:t>
            </a:r>
          </a:p>
        </p:txBody>
      </p:sp>
      <p:sp>
        <p:nvSpPr>
          <p:cNvPr id="117" name="Num 117"/>
          <p:cNvSpPr/>
          <p:nvPr/>
        </p:nvSpPr>
        <p:spPr>
          <a:xfrm>
            <a:off x="5500000" y="4550000"/>
            <a:ext cx="560000" cy="560000"/>
          </a:xfrm>
          <a:prstGeom prst="ellipse">
            <a:avLst/>
          </a:prstGeom>
          <a:solidFill>
            <a:srgbClr val="C00000"/>
          </a:solidFill>
          <a:ln>
            <a:noFill/>
          </a:ln>
        </p:spPr>
        <p:txBody>
          <a:bodyPr wrap="square" lIns="0" tIns="0" rIns="0" bIns="0" rtlCol="0" anchor="ctr">
            <a:noAutofit/>
          </a:bodyPr>
          <a:lstStyle/>
          <a:p>
            <a:pPr marL="0" indent="0" algn="ctr">
              <a:spcBef>
                <a:spcPts val="0"/>
              </a:spcBef>
              <a:spcAft>
                <a:spcPts val="0"/>
              </a:spcAft>
              <a:buNone/>
            </a:pPr>
            <a:r>
              <a:rPr lang="en-US" sz="1800" b="1" i="0" dirty="0">
                <a:solidFill>
                  <a:srgbClr val="FFFFFF"/>
                </a:solidFill>
              </a:rPr>
              <a:t>5</a:t>
            </a:r>
          </a:p>
        </p:txBody>
      </p:sp>
      <p:sp>
        <p:nvSpPr>
          <p:cNvPr id="118" name="Obj 118"/>
          <p:cNvSpPr txBox="1"/>
          <p:nvPr/>
        </p:nvSpPr>
        <p:spPr>
          <a:xfrm>
            <a:off x="6200000" y="4510000"/>
            <a:ext cx="5300000" cy="640000"/>
          </a:xfrm>
          <a:prstGeom prst="rect">
            <a:avLst/>
          </a:prstGeom>
          <a:noFill/>
          <a:ln>
            <a:noFill/>
          </a:ln>
        </p:spPr>
        <p:txBody>
          <a:bodyPr wrap="square" lIns="91440" tIns="91440" rIns="91440" bIns="91440" rtlCol="0" anchor="ctr">
            <a:noAutofit/>
          </a:bodyPr>
          <a:lstStyle/>
          <a:p>
            <a:pPr marL="0" indent="0" algn="l">
              <a:spcBef>
                <a:spcPts val="0"/>
              </a:spcBef>
              <a:spcAft>
                <a:spcPts val="0"/>
              </a:spcAft>
              <a:buNone/>
            </a:pPr>
            <a:r>
              <a:rPr lang="en-US" sz="1800" b="0" i="0" dirty="0">
                <a:solidFill>
                  <a:srgbClr val="262626"/>
                </a:solidFill>
              </a:rPr>
              <a:t>Highlight copied passages in the interface and HTML report</a:t>
            </a:r>
          </a:p>
        </p:txBody>
      </p:sp>
      <p:sp>
        <p:nvSpPr>
          <p:cNvPr id="119" name="Num 119"/>
          <p:cNvSpPr/>
          <p:nvPr/>
        </p:nvSpPr>
        <p:spPr>
          <a:xfrm>
            <a:off x="5500000" y="5390000"/>
            <a:ext cx="560000" cy="560000"/>
          </a:xfrm>
          <a:prstGeom prst="ellipse">
            <a:avLst/>
          </a:prstGeom>
          <a:solidFill>
            <a:srgbClr val="C00000"/>
          </a:solidFill>
          <a:ln>
            <a:noFill/>
          </a:ln>
        </p:spPr>
        <p:txBody>
          <a:bodyPr wrap="square" lIns="0" tIns="0" rIns="0" bIns="0" rtlCol="0" anchor="ctr">
            <a:noAutofit/>
          </a:bodyPr>
          <a:lstStyle/>
          <a:p>
            <a:pPr marL="0" indent="0" algn="ctr">
              <a:spcBef>
                <a:spcPts val="0"/>
              </a:spcBef>
              <a:spcAft>
                <a:spcPts val="0"/>
              </a:spcAft>
              <a:buNone/>
            </a:pPr>
            <a:r>
              <a:rPr lang="en-US" sz="1800" b="1" i="0" dirty="0">
                <a:solidFill>
                  <a:srgbClr val="FFFFFF"/>
                </a:solidFill>
              </a:rPr>
              <a:t>6</a:t>
            </a:r>
          </a:p>
        </p:txBody>
      </p:sp>
      <p:sp>
        <p:nvSpPr>
          <p:cNvPr id="120" name="Obj 120"/>
          <p:cNvSpPr txBox="1"/>
          <p:nvPr/>
        </p:nvSpPr>
        <p:spPr>
          <a:xfrm>
            <a:off x="6200000" y="5350000"/>
            <a:ext cx="5300000" cy="640000"/>
          </a:xfrm>
          <a:prstGeom prst="rect">
            <a:avLst/>
          </a:prstGeom>
          <a:noFill/>
          <a:ln>
            <a:noFill/>
          </a:ln>
        </p:spPr>
        <p:txBody>
          <a:bodyPr wrap="square" lIns="91440" tIns="91440" rIns="91440" bIns="91440" rtlCol="0" anchor="ctr">
            <a:noAutofit/>
          </a:bodyPr>
          <a:lstStyle/>
          <a:p>
            <a:pPr marL="0" indent="0" algn="l">
              <a:spcBef>
                <a:spcPts val="0"/>
              </a:spcBef>
              <a:spcAft>
                <a:spcPts val="0"/>
              </a:spcAft>
              <a:buNone/>
            </a:pPr>
            <a:r>
              <a:rPr lang="en-US" sz="1800" b="0" i="0" dirty="0">
                <a:solidFill>
                  <a:srgbClr val="262626"/>
                </a:solidFill>
              </a:rPr>
              <a:t>Implement hash tables, strings and arrays from scratch</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121" name="Step 121"/>
          <p:cNvSpPr/>
          <p:nvPr/>
        </p:nvSpPr>
        <p:spPr>
          <a:xfrm>
            <a:off x="800000" y="1250000"/>
            <a:ext cx="2250000" cy="1900000"/>
          </a:xfrm>
          <a:prstGeom prst="roundRect">
            <a:avLst>
              <a:gd name="adj" fmla="val 8000"/>
            </a:avLst>
          </a:prstGeom>
          <a:solidFill>
            <a:srgbClr val="F2F2F2"/>
          </a:solidFill>
          <a:ln w="12700">
            <a:solidFill>
              <a:srgbClr val="C00000"/>
            </a:solidFill>
          </a:ln>
        </p:spPr>
        <p:txBody>
          <a:bodyPr wrap="square" lIns="137160" tIns="137160" rIns="137160" bIns="137160" rtlCol="0" anchor="ctr">
            <a:noAutofit/>
          </a:bodyPr>
          <a:lstStyle/>
          <a:p>
            <a:pPr marL="0" indent="0" algn="ctr">
              <a:spcBef>
                <a:spcPts val="0"/>
              </a:spcBef>
              <a:spcAft>
                <a:spcPts val="500"/>
              </a:spcAft>
              <a:buNone/>
            </a:pPr>
            <a:r>
              <a:rPr lang="en-US" sz="1800" b="1" i="0" dirty="0">
                <a:solidFill>
                  <a:srgbClr val="C00000"/>
                </a:solidFill>
              </a:rPr>
              <a:t>1. Load documents</a:t>
            </a:r>
          </a:p>
          <a:p>
            <a:pPr marL="0" indent="0" algn="ctr">
              <a:spcBef>
                <a:spcPts val="0"/>
              </a:spcBef>
              <a:spcAft>
                <a:spcPts val="0"/>
              </a:spcAft>
              <a:buNone/>
            </a:pPr>
            <a:r>
              <a:rPr lang="en-US" sz="1500" b="0" i="0" dirty="0">
                <a:solidFill>
                  <a:srgbClr val="262626"/>
                </a:solidFill>
              </a:rPr>
              <a:t>Read .txt files or choose them in the GUI</a:t>
            </a:r>
          </a:p>
        </p:txBody>
      </p:sp>
      <p:sp>
        <p:nvSpPr>
          <p:cNvPr id="122" name="Step 122"/>
          <p:cNvSpPr/>
          <p:nvPr/>
        </p:nvSpPr>
        <p:spPr>
          <a:xfrm>
            <a:off x="3650000" y="1250000"/>
            <a:ext cx="2250000" cy="1900000"/>
          </a:xfrm>
          <a:prstGeom prst="roundRect">
            <a:avLst>
              <a:gd name="adj" fmla="val 8000"/>
            </a:avLst>
          </a:prstGeom>
          <a:solidFill>
            <a:srgbClr val="F2F2F2"/>
          </a:solidFill>
          <a:ln w="12700">
            <a:solidFill>
              <a:srgbClr val="C00000"/>
            </a:solidFill>
          </a:ln>
        </p:spPr>
        <p:txBody>
          <a:bodyPr wrap="square" lIns="137160" tIns="137160" rIns="137160" bIns="137160" rtlCol="0" anchor="ctr">
            <a:noAutofit/>
          </a:bodyPr>
          <a:lstStyle/>
          <a:p>
            <a:pPr marL="0" indent="0" algn="ctr">
              <a:spcBef>
                <a:spcPts val="0"/>
              </a:spcBef>
              <a:spcAft>
                <a:spcPts val="500"/>
              </a:spcAft>
              <a:buNone/>
            </a:pPr>
            <a:r>
              <a:rPr lang="en-US" sz="1800" b="1" i="0" dirty="0">
                <a:solidFill>
                  <a:srgbClr val="C00000"/>
                </a:solidFill>
              </a:rPr>
              <a:t>2. Normalise text</a:t>
            </a:r>
          </a:p>
          <a:p>
            <a:pPr marL="0" indent="0" algn="ctr">
              <a:spcBef>
                <a:spcPts val="0"/>
              </a:spcBef>
              <a:spcAft>
                <a:spcPts val="0"/>
              </a:spcAft>
              <a:buNone/>
            </a:pPr>
            <a:r>
              <a:rPr lang="en-US" sz="1500" b="0" i="0" dirty="0">
                <a:solidFill>
                  <a:srgbClr val="262626"/>
                </a:solidFill>
              </a:rPr>
              <a:t>Lower-case, strip punctuation, keep index map</a:t>
            </a:r>
          </a:p>
        </p:txBody>
      </p:sp>
      <p:sp>
        <p:nvSpPr>
          <p:cNvPr id="123" name="Step 123"/>
          <p:cNvSpPr/>
          <p:nvPr/>
        </p:nvSpPr>
        <p:spPr>
          <a:xfrm>
            <a:off x="6500000" y="1250000"/>
            <a:ext cx="2250000" cy="1900000"/>
          </a:xfrm>
          <a:prstGeom prst="roundRect">
            <a:avLst>
              <a:gd name="adj" fmla="val 8000"/>
            </a:avLst>
          </a:prstGeom>
          <a:solidFill>
            <a:srgbClr val="F2F2F2"/>
          </a:solidFill>
          <a:ln w="12700">
            <a:solidFill>
              <a:srgbClr val="C00000"/>
            </a:solidFill>
          </a:ln>
        </p:spPr>
        <p:txBody>
          <a:bodyPr wrap="square" lIns="137160" tIns="137160" rIns="137160" bIns="137160" rtlCol="0" anchor="ctr">
            <a:noAutofit/>
          </a:bodyPr>
          <a:lstStyle/>
          <a:p>
            <a:pPr marL="0" indent="0" algn="ctr">
              <a:spcBef>
                <a:spcPts val="0"/>
              </a:spcBef>
              <a:spcAft>
                <a:spcPts val="500"/>
              </a:spcAft>
              <a:buNone/>
            </a:pPr>
            <a:r>
              <a:rPr lang="en-US" sz="1800" b="1" i="0" dirty="0">
                <a:solidFill>
                  <a:srgbClr val="C00000"/>
                </a:solidFill>
              </a:rPr>
              <a:t>3. Rolling hash</a:t>
            </a:r>
          </a:p>
          <a:p>
            <a:pPr marL="0" indent="0" algn="ctr">
              <a:spcBef>
                <a:spcPts val="0"/>
              </a:spcBef>
              <a:spcAft>
                <a:spcPts val="0"/>
              </a:spcAft>
              <a:buNone/>
            </a:pPr>
            <a:r>
              <a:rPr lang="en-US" sz="1500" b="0" i="0" dirty="0">
                <a:solidFill>
                  <a:srgbClr val="262626"/>
                </a:solidFill>
              </a:rPr>
              <a:t>Double hash of every k-char window</a:t>
            </a:r>
          </a:p>
        </p:txBody>
      </p:sp>
      <p:sp>
        <p:nvSpPr>
          <p:cNvPr id="124" name="Step 124"/>
          <p:cNvSpPr/>
          <p:nvPr/>
        </p:nvSpPr>
        <p:spPr>
          <a:xfrm>
            <a:off x="9350000" y="1250000"/>
            <a:ext cx="2250000" cy="1900000"/>
          </a:xfrm>
          <a:prstGeom prst="roundRect">
            <a:avLst>
              <a:gd name="adj" fmla="val 8000"/>
            </a:avLst>
          </a:prstGeom>
          <a:solidFill>
            <a:srgbClr val="F2F2F2"/>
          </a:solidFill>
          <a:ln w="12700">
            <a:solidFill>
              <a:srgbClr val="C00000"/>
            </a:solidFill>
          </a:ln>
        </p:spPr>
        <p:txBody>
          <a:bodyPr wrap="square" lIns="137160" tIns="137160" rIns="137160" bIns="137160" rtlCol="0" anchor="ctr">
            <a:noAutofit/>
          </a:bodyPr>
          <a:lstStyle/>
          <a:p>
            <a:pPr marL="0" indent="0" algn="ctr">
              <a:spcBef>
                <a:spcPts val="0"/>
              </a:spcBef>
              <a:spcAft>
                <a:spcPts val="500"/>
              </a:spcAft>
              <a:buNone/>
            </a:pPr>
            <a:r>
              <a:rPr lang="en-US" sz="1800" b="1" i="0" dirty="0">
                <a:solidFill>
                  <a:srgbClr val="C00000"/>
                </a:solidFill>
              </a:rPr>
              <a:t>4. Build hash index</a:t>
            </a:r>
          </a:p>
          <a:p>
            <a:pPr marL="0" indent="0" algn="ctr">
              <a:spcBef>
                <a:spcPts val="0"/>
              </a:spcBef>
              <a:spcAft>
                <a:spcPts val="0"/>
              </a:spcAft>
              <a:buNone/>
            </a:pPr>
            <a:r>
              <a:rPr lang="en-US" sz="1500" b="0" i="0" dirty="0">
                <a:solidFill>
                  <a:srgbClr val="262626"/>
                </a:solidFill>
              </a:rPr>
              <a:t>Custom chained table for Document A</a:t>
            </a:r>
          </a:p>
        </p:txBody>
      </p:sp>
      <p:sp>
        <p:nvSpPr>
          <p:cNvPr id="125" name="Step 125"/>
          <p:cNvSpPr/>
          <p:nvPr/>
        </p:nvSpPr>
        <p:spPr>
          <a:xfrm>
            <a:off x="9350000" y="3850000"/>
            <a:ext cx="2250000" cy="1900000"/>
          </a:xfrm>
          <a:prstGeom prst="roundRect">
            <a:avLst>
              <a:gd name="adj" fmla="val 8000"/>
            </a:avLst>
          </a:prstGeom>
          <a:solidFill>
            <a:srgbClr val="F2F2F2"/>
          </a:solidFill>
          <a:ln w="12700">
            <a:solidFill>
              <a:srgbClr val="C00000"/>
            </a:solidFill>
          </a:ln>
        </p:spPr>
        <p:txBody>
          <a:bodyPr wrap="square" lIns="137160" tIns="137160" rIns="137160" bIns="137160" rtlCol="0" anchor="ctr">
            <a:noAutofit/>
          </a:bodyPr>
          <a:lstStyle/>
          <a:p>
            <a:pPr marL="0" indent="0" algn="ctr">
              <a:spcBef>
                <a:spcPts val="0"/>
              </a:spcBef>
              <a:spcAft>
                <a:spcPts val="500"/>
              </a:spcAft>
              <a:buNone/>
            </a:pPr>
            <a:r>
              <a:rPr lang="en-US" sz="1800" b="1" i="0" dirty="0">
                <a:solidFill>
                  <a:srgbClr val="C00000"/>
                </a:solidFill>
              </a:rPr>
              <a:t>5. Look up windows</a:t>
            </a:r>
          </a:p>
          <a:p>
            <a:pPr marL="0" indent="0" algn="ctr">
              <a:spcBef>
                <a:spcPts val="0"/>
              </a:spcBef>
              <a:spcAft>
                <a:spcPts val="0"/>
              </a:spcAft>
              <a:buNone/>
            </a:pPr>
            <a:r>
              <a:rPr lang="en-US" sz="1500" b="0" i="0" dirty="0">
                <a:solidFill>
                  <a:srgbClr val="262626"/>
                </a:solidFill>
              </a:rPr>
              <a:t>Hash each window of B and probe the index</a:t>
            </a:r>
          </a:p>
        </p:txBody>
      </p:sp>
      <p:sp>
        <p:nvSpPr>
          <p:cNvPr id="126" name="Step 126"/>
          <p:cNvSpPr/>
          <p:nvPr/>
        </p:nvSpPr>
        <p:spPr>
          <a:xfrm>
            <a:off x="6500000" y="3850000"/>
            <a:ext cx="2250000" cy="1900000"/>
          </a:xfrm>
          <a:prstGeom prst="roundRect">
            <a:avLst>
              <a:gd name="adj" fmla="val 8000"/>
            </a:avLst>
          </a:prstGeom>
          <a:solidFill>
            <a:srgbClr val="F2F2F2"/>
          </a:solidFill>
          <a:ln w="12700">
            <a:solidFill>
              <a:srgbClr val="C00000"/>
            </a:solidFill>
          </a:ln>
        </p:spPr>
        <p:txBody>
          <a:bodyPr wrap="square" lIns="137160" tIns="137160" rIns="137160" bIns="137160" rtlCol="0" anchor="ctr">
            <a:noAutofit/>
          </a:bodyPr>
          <a:lstStyle/>
          <a:p>
            <a:pPr marL="0" indent="0" algn="ctr">
              <a:spcBef>
                <a:spcPts val="0"/>
              </a:spcBef>
              <a:spcAft>
                <a:spcPts val="500"/>
              </a:spcAft>
              <a:buNone/>
            </a:pPr>
            <a:r>
              <a:rPr lang="en-US" sz="1800" b="1" i="0" dirty="0">
                <a:solidFill>
                  <a:srgbClr val="C00000"/>
                </a:solidFill>
              </a:rPr>
              <a:t>6. Verify match</a:t>
            </a:r>
          </a:p>
          <a:p>
            <a:pPr marL="0" indent="0" algn="ctr">
              <a:spcBef>
                <a:spcPts val="0"/>
              </a:spcBef>
              <a:spcAft>
                <a:spcPts val="0"/>
              </a:spcAft>
              <a:buNone/>
            </a:pPr>
            <a:r>
              <a:rPr lang="en-US" sz="1500" b="0" i="0" dirty="0">
                <a:solidFill>
                  <a:srgbClr val="262626"/>
                </a:solidFill>
              </a:rPr>
              <a:t>Compare characters; reject collisions</a:t>
            </a:r>
          </a:p>
        </p:txBody>
      </p:sp>
      <p:sp>
        <p:nvSpPr>
          <p:cNvPr id="127" name="Step 127"/>
          <p:cNvSpPr/>
          <p:nvPr/>
        </p:nvSpPr>
        <p:spPr>
          <a:xfrm>
            <a:off x="3650000" y="3850000"/>
            <a:ext cx="2250000" cy="1900000"/>
          </a:xfrm>
          <a:prstGeom prst="roundRect">
            <a:avLst>
              <a:gd name="adj" fmla="val 8000"/>
            </a:avLst>
          </a:prstGeom>
          <a:solidFill>
            <a:srgbClr val="F2F2F2"/>
          </a:solidFill>
          <a:ln w="12700">
            <a:solidFill>
              <a:srgbClr val="C00000"/>
            </a:solidFill>
          </a:ln>
        </p:spPr>
        <p:txBody>
          <a:bodyPr wrap="square" lIns="137160" tIns="137160" rIns="137160" bIns="137160" rtlCol="0" anchor="ctr">
            <a:noAutofit/>
          </a:bodyPr>
          <a:lstStyle/>
          <a:p>
            <a:pPr marL="0" indent="0" algn="ctr">
              <a:spcBef>
                <a:spcPts val="0"/>
              </a:spcBef>
              <a:spcAft>
                <a:spcPts val="500"/>
              </a:spcAft>
              <a:buNone/>
            </a:pPr>
            <a:r>
              <a:rPr lang="en-US" sz="1800" b="1" i="0" dirty="0">
                <a:solidFill>
                  <a:srgbClr val="C00000"/>
                </a:solidFill>
              </a:rPr>
              <a:t>7. Merge passages</a:t>
            </a:r>
          </a:p>
          <a:p>
            <a:pPr marL="0" indent="0" algn="ctr">
              <a:spcBef>
                <a:spcPts val="0"/>
              </a:spcBef>
              <a:spcAft>
                <a:spcPts val="0"/>
              </a:spcAft>
              <a:buNone/>
            </a:pPr>
            <a:r>
              <a:rPr lang="en-US" sz="1500" b="0" i="0" dirty="0">
                <a:solidFill>
                  <a:srgbClr val="262626"/>
                </a:solidFill>
              </a:rPr>
              <a:t>Join adjacent matches into passages</a:t>
            </a:r>
          </a:p>
        </p:txBody>
      </p:sp>
      <p:sp>
        <p:nvSpPr>
          <p:cNvPr id="128" name="Step 128"/>
          <p:cNvSpPr/>
          <p:nvPr/>
        </p:nvSpPr>
        <p:spPr>
          <a:xfrm>
            <a:off x="800000" y="3850000"/>
            <a:ext cx="2250000" cy="1900000"/>
          </a:xfrm>
          <a:prstGeom prst="roundRect">
            <a:avLst>
              <a:gd name="adj" fmla="val 8000"/>
            </a:avLst>
          </a:prstGeom>
          <a:solidFill>
            <a:srgbClr val="F2F2F2"/>
          </a:solidFill>
          <a:ln w="12700">
            <a:solidFill>
              <a:srgbClr val="C00000"/>
            </a:solidFill>
          </a:ln>
        </p:spPr>
        <p:txBody>
          <a:bodyPr wrap="square" lIns="137160" tIns="137160" rIns="137160" bIns="137160" rtlCol="0" anchor="ctr">
            <a:noAutofit/>
          </a:bodyPr>
          <a:lstStyle/>
          <a:p>
            <a:pPr marL="0" indent="0" algn="ctr">
              <a:spcBef>
                <a:spcPts val="0"/>
              </a:spcBef>
              <a:spcAft>
                <a:spcPts val="500"/>
              </a:spcAft>
              <a:buNone/>
            </a:pPr>
            <a:r>
              <a:rPr lang="en-US" sz="1800" b="1" i="0" dirty="0">
                <a:solidFill>
                  <a:srgbClr val="C00000"/>
                </a:solidFill>
              </a:rPr>
              <a:t>8. Report</a:t>
            </a:r>
          </a:p>
          <a:p>
            <a:pPr marL="0" indent="0" algn="ctr">
              <a:spcBef>
                <a:spcPts val="0"/>
              </a:spcBef>
              <a:spcAft>
                <a:spcPts val="0"/>
              </a:spcAft>
              <a:buNone/>
            </a:pPr>
            <a:r>
              <a:rPr lang="en-US" sz="1500" b="0" i="0" dirty="0">
                <a:solidFill>
                  <a:srgbClr val="262626"/>
                </a:solidFill>
              </a:rPr>
              <a:t>Similarity % and highlighted text</a:t>
            </a:r>
          </a:p>
        </p:txBody>
      </p:sp>
      <p:cxnSp>
        <p:nvCxnSpPr>
          <p:cNvPr id="129" name="Arrow 129"/>
          <p:cNvCxnSpPr/>
          <p:nvPr/>
        </p:nvCxnSpPr>
        <p:spPr>
          <a:xfrm>
            <a:off x="3090000" y="2200000"/>
            <a:ext cx="520000" cy="0"/>
          </a:xfrm>
          <a:prstGeom prst="line">
            <a:avLst/>
          </a:prstGeom>
          <a:ln w="28575">
            <a:solidFill>
              <a:srgbClr val="C00000"/>
            </a:solidFill>
            <a:tailEnd type="triangle"/>
          </a:ln>
        </p:spPr>
      </p:cxnSp>
      <p:cxnSp>
        <p:nvCxnSpPr>
          <p:cNvPr id="130" name="Arrow 130"/>
          <p:cNvCxnSpPr/>
          <p:nvPr/>
        </p:nvCxnSpPr>
        <p:spPr>
          <a:xfrm>
            <a:off x="5940000" y="2200000"/>
            <a:ext cx="520000" cy="0"/>
          </a:xfrm>
          <a:prstGeom prst="line">
            <a:avLst/>
          </a:prstGeom>
          <a:ln w="28575">
            <a:solidFill>
              <a:srgbClr val="C00000"/>
            </a:solidFill>
            <a:tailEnd type="triangle"/>
          </a:ln>
        </p:spPr>
      </p:cxnSp>
      <p:cxnSp>
        <p:nvCxnSpPr>
          <p:cNvPr id="131" name="Arrow 131"/>
          <p:cNvCxnSpPr/>
          <p:nvPr/>
        </p:nvCxnSpPr>
        <p:spPr>
          <a:xfrm>
            <a:off x="8790000" y="2200000"/>
            <a:ext cx="520000" cy="0"/>
          </a:xfrm>
          <a:prstGeom prst="line">
            <a:avLst/>
          </a:prstGeom>
          <a:ln w="28575">
            <a:solidFill>
              <a:srgbClr val="C00000"/>
            </a:solidFill>
            <a:tailEnd type="triangle"/>
          </a:ln>
        </p:spPr>
      </p:cxnSp>
      <p:cxnSp>
        <p:nvCxnSpPr>
          <p:cNvPr id="132" name="Arrow 132"/>
          <p:cNvCxnSpPr/>
          <p:nvPr/>
        </p:nvCxnSpPr>
        <p:spPr>
          <a:xfrm>
            <a:off x="10475000" y="3190000"/>
            <a:ext cx="0" cy="620000"/>
          </a:xfrm>
          <a:prstGeom prst="line">
            <a:avLst/>
          </a:prstGeom>
          <a:ln w="28575">
            <a:solidFill>
              <a:srgbClr val="C00000"/>
            </a:solidFill>
            <a:tailEnd type="triangle"/>
          </a:ln>
        </p:spPr>
      </p:cxnSp>
      <p:cxnSp>
        <p:nvCxnSpPr>
          <p:cNvPr id="133" name="Arrow 133"/>
          <p:cNvCxnSpPr/>
          <p:nvPr/>
        </p:nvCxnSpPr>
        <p:spPr>
          <a:xfrm flipH="1">
            <a:off x="8790000" y="4800000"/>
            <a:ext cx="520000" cy="0"/>
          </a:xfrm>
          <a:prstGeom prst="line">
            <a:avLst/>
          </a:prstGeom>
          <a:ln w="28575">
            <a:solidFill>
              <a:srgbClr val="C00000"/>
            </a:solidFill>
            <a:tailEnd type="triangle"/>
          </a:ln>
        </p:spPr>
      </p:cxnSp>
      <p:cxnSp>
        <p:nvCxnSpPr>
          <p:cNvPr id="134" name="Arrow 134"/>
          <p:cNvCxnSpPr/>
          <p:nvPr/>
        </p:nvCxnSpPr>
        <p:spPr>
          <a:xfrm flipH="1">
            <a:off x="5940000" y="4800000"/>
            <a:ext cx="520000" cy="0"/>
          </a:xfrm>
          <a:prstGeom prst="line">
            <a:avLst/>
          </a:prstGeom>
          <a:ln w="28575">
            <a:solidFill>
              <a:srgbClr val="C00000"/>
            </a:solidFill>
            <a:tailEnd type="triangle"/>
          </a:ln>
        </p:spPr>
      </p:cxnSp>
      <p:cxnSp>
        <p:nvCxnSpPr>
          <p:cNvPr id="135" name="Arrow 135"/>
          <p:cNvCxnSpPr/>
          <p:nvPr/>
        </p:nvCxnSpPr>
        <p:spPr>
          <a:xfrm flipH="1">
            <a:off x="3090000" y="4800000"/>
            <a:ext cx="520000" cy="0"/>
          </a:xfrm>
          <a:prstGeom prst="line">
            <a:avLst/>
          </a:prstGeom>
          <a:ln w="28575">
            <a:solidFill>
              <a:srgbClr val="C00000"/>
            </a:solidFill>
            <a:tailEnd type="triangle"/>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136" name="Cap 136"/>
          <p:cNvSpPr txBox="1"/>
          <p:nvPr/>
        </p:nvSpPr>
        <p:spPr>
          <a:xfrm>
            <a:off x="700000" y="1080000"/>
            <a:ext cx="5300000" cy="380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500" b="1" i="0" dirty="0">
                <a:solidFill>
                  <a:srgbClr val="C00000"/>
                </a:solidFill>
              </a:rPr>
              <a:t>Similarity on sample documents (k = 20)</a:t>
            </a:r>
          </a:p>
        </p:txBody>
      </p:sp>
      <p:graphicFrame>
        <p:nvGraphicFramePr>
          <p:cNvPr id="137" name="Table 137"/>
          <p:cNvGraphicFramePr>
            <a:graphicFrameLocks noGrp="1"/>
          </p:cNvGraphicFramePr>
          <p:nvPr/>
        </p:nvGraphicFramePr>
        <p:xfrm>
          <a:off x="700000" y="1480000"/>
          <a:ext cx="5300000" cy="2000000"/>
        </p:xfrm>
        <a:graphic>
          <a:graphicData uri="http://schemas.openxmlformats.org/drawingml/2006/table">
            <a:tbl>
              <a:tblPr firstRow="1"/>
              <a:tblGrid>
                <a:gridCol w="2500000">
                  <a:extLst>
                    <a:ext uri="{9D8B030D-6E8A-4147-A177-3AD203B41FA5}">
                      <a16:colId xmlns:a16="http://schemas.microsoft.com/office/drawing/2014/main" val="20000"/>
                    </a:ext>
                  </a:extLst>
                </a:gridCol>
                <a:gridCol w="933000">
                  <a:extLst>
                    <a:ext uri="{9D8B030D-6E8A-4147-A177-3AD203B41FA5}">
                      <a16:colId xmlns:a16="http://schemas.microsoft.com/office/drawing/2014/main" val="20001"/>
                    </a:ext>
                  </a:extLst>
                </a:gridCol>
                <a:gridCol w="933000">
                  <a:extLst>
                    <a:ext uri="{9D8B030D-6E8A-4147-A177-3AD203B41FA5}">
                      <a16:colId xmlns:a16="http://schemas.microsoft.com/office/drawing/2014/main" val="20002"/>
                    </a:ext>
                  </a:extLst>
                </a:gridCol>
                <a:gridCol w="934000">
                  <a:extLst>
                    <a:ext uri="{9D8B030D-6E8A-4147-A177-3AD203B41FA5}">
                      <a16:colId xmlns:a16="http://schemas.microsoft.com/office/drawing/2014/main" val="20003"/>
                    </a:ext>
                  </a:extLst>
                </a:gridCol>
              </a:tblGrid>
              <a:tr h="400000">
                <a:tc>
                  <a:txBody>
                    <a:bodyPr/>
                    <a:lstStyle/>
                    <a:p>
                      <a:pPr algn="l"/>
                      <a:r>
                        <a:rPr lang="en-US" sz="1400" b="1" i="0" dirty="0">
                          <a:solidFill>
                            <a:srgbClr val="FFFFFF"/>
                          </a:solidFill>
                        </a:rPr>
                        <a:t>Document pair</a:t>
                      </a:r>
                    </a:p>
                  </a:txBody>
                  <a:tcPr anchor="ctr">
                    <a:lnL w="0">
                      <a:noFill/>
                    </a:lnL>
                    <a:lnR w="0">
                      <a:noFill/>
                    </a:lnR>
                    <a:lnT w="0">
                      <a:noFill/>
                    </a:lnT>
                    <a:lnB w="6350">
                      <a:solidFill>
                        <a:srgbClr val="D0D0D0"/>
                      </a:solidFill>
                    </a:lnB>
                    <a:solidFill>
                      <a:srgbClr val="C00000"/>
                    </a:solidFill>
                  </a:tcPr>
                </a:tc>
                <a:tc>
                  <a:txBody>
                    <a:bodyPr/>
                    <a:lstStyle/>
                    <a:p>
                      <a:pPr algn="ctr"/>
                      <a:r>
                        <a:rPr lang="en-US" sz="1400" b="1" i="0" dirty="0">
                          <a:solidFill>
                            <a:srgbClr val="FFFFFF"/>
                          </a:solidFill>
                        </a:rPr>
                        <a:t>A copied</a:t>
                      </a:r>
                    </a:p>
                  </a:txBody>
                  <a:tcPr anchor="ctr">
                    <a:lnL w="0">
                      <a:noFill/>
                    </a:lnL>
                    <a:lnR w="0">
                      <a:noFill/>
                    </a:lnR>
                    <a:lnT w="0">
                      <a:noFill/>
                    </a:lnT>
                    <a:lnB w="6350">
                      <a:solidFill>
                        <a:srgbClr val="D0D0D0"/>
                      </a:solidFill>
                    </a:lnB>
                    <a:solidFill>
                      <a:srgbClr val="C00000"/>
                    </a:solidFill>
                  </a:tcPr>
                </a:tc>
                <a:tc>
                  <a:txBody>
                    <a:bodyPr/>
                    <a:lstStyle/>
                    <a:p>
                      <a:pPr algn="ctr"/>
                      <a:r>
                        <a:rPr lang="en-US" sz="1400" b="1" i="0" dirty="0">
                          <a:solidFill>
                            <a:srgbClr val="FFFFFF"/>
                          </a:solidFill>
                        </a:rPr>
                        <a:t>B copied</a:t>
                      </a:r>
                    </a:p>
                  </a:txBody>
                  <a:tcPr anchor="ctr">
                    <a:lnL w="0">
                      <a:noFill/>
                    </a:lnL>
                    <a:lnR w="0">
                      <a:noFill/>
                    </a:lnR>
                    <a:lnT w="0">
                      <a:noFill/>
                    </a:lnT>
                    <a:lnB w="6350">
                      <a:solidFill>
                        <a:srgbClr val="D0D0D0"/>
                      </a:solidFill>
                    </a:lnB>
                    <a:solidFill>
                      <a:srgbClr val="C00000"/>
                    </a:solidFill>
                  </a:tcPr>
                </a:tc>
                <a:tc>
                  <a:txBody>
                    <a:bodyPr/>
                    <a:lstStyle/>
                    <a:p>
                      <a:pPr algn="ctr"/>
                      <a:r>
                        <a:rPr lang="en-US" sz="1400" b="1" i="0" dirty="0">
                          <a:solidFill>
                            <a:srgbClr val="FFFFFF"/>
                          </a:solidFill>
                        </a:rPr>
                        <a:t>Overall</a:t>
                      </a:r>
                    </a:p>
                  </a:txBody>
                  <a:tcPr anchor="ctr">
                    <a:lnL w="0">
                      <a:noFill/>
                    </a:lnL>
                    <a:lnR w="0">
                      <a:noFill/>
                    </a:lnR>
                    <a:lnT w="0">
                      <a:noFill/>
                    </a:lnT>
                    <a:lnB w="6350">
                      <a:solidFill>
                        <a:srgbClr val="D0D0D0"/>
                      </a:solidFill>
                    </a:lnB>
                    <a:solidFill>
                      <a:srgbClr val="C00000"/>
                    </a:solidFill>
                  </a:tcPr>
                </a:tc>
                <a:extLst>
                  <a:ext uri="{0D108BD9-81ED-4DB2-BD59-A6C34878D82A}">
                    <a16:rowId xmlns:a16="http://schemas.microsoft.com/office/drawing/2014/main" val="10000"/>
                  </a:ext>
                </a:extLst>
              </a:tr>
              <a:tr h="400000">
                <a:tc>
                  <a:txBody>
                    <a:bodyPr/>
                    <a:lstStyle/>
                    <a:p>
                      <a:pPr algn="l"/>
                      <a:r>
                        <a:rPr lang="en-US" sz="1400" b="0" i="0" dirty="0">
                          <a:solidFill>
                            <a:srgbClr val="262626"/>
                          </a:solidFill>
                        </a:rPr>
                        <a:t>doc1 vs doc2 (copied)</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pPr algn="ctr"/>
                      <a:r>
                        <a:rPr lang="en-US" sz="1400" b="0" i="0" dirty="0">
                          <a:solidFill>
                            <a:srgbClr val="262626"/>
                          </a:solidFill>
                        </a:rPr>
                        <a:t>47.3%</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pPr algn="ctr"/>
                      <a:r>
                        <a:rPr lang="en-US" sz="1400" b="0" i="0" dirty="0">
                          <a:solidFill>
                            <a:srgbClr val="262626"/>
                          </a:solidFill>
                        </a:rPr>
                        <a:t>58.9%</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pPr algn="ctr"/>
                      <a:r>
                        <a:rPr lang="en-US" sz="1400" b="0" i="0" dirty="0">
                          <a:solidFill>
                            <a:srgbClr val="262626"/>
                          </a:solidFill>
                        </a:rPr>
                        <a:t>52.5%</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extLst>
                  <a:ext uri="{0D108BD9-81ED-4DB2-BD59-A6C34878D82A}">
                    <a16:rowId xmlns:a16="http://schemas.microsoft.com/office/drawing/2014/main" val="10001"/>
                  </a:ext>
                </a:extLst>
              </a:tr>
              <a:tr h="400000">
                <a:tc>
                  <a:txBody>
                    <a:bodyPr/>
                    <a:lstStyle/>
                    <a:p>
                      <a:pPr algn="l"/>
                      <a:r>
                        <a:rPr lang="en-US" sz="1400" b="0" i="0" dirty="0">
                          <a:solidFill>
                            <a:srgbClr val="262626"/>
                          </a:solidFill>
                        </a:rPr>
                        <a:t>doc1 vs doc3 (partial)</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2F2F2"/>
                    </a:solidFill>
                  </a:tcPr>
                </a:tc>
                <a:tc>
                  <a:txBody>
                    <a:bodyPr/>
                    <a:lstStyle/>
                    <a:p>
                      <a:pPr algn="ctr"/>
                      <a:r>
                        <a:rPr lang="en-US" sz="1400" b="0" i="0" dirty="0">
                          <a:solidFill>
                            <a:srgbClr val="262626"/>
                          </a:solidFill>
                        </a:rPr>
                        <a:t>27.2%</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2F2F2"/>
                    </a:solidFill>
                  </a:tcPr>
                </a:tc>
                <a:tc>
                  <a:txBody>
                    <a:bodyPr/>
                    <a:lstStyle/>
                    <a:p>
                      <a:pPr algn="ctr"/>
                      <a:r>
                        <a:rPr lang="en-US" sz="1400" b="0" i="0" dirty="0">
                          <a:solidFill>
                            <a:srgbClr val="262626"/>
                          </a:solidFill>
                        </a:rPr>
                        <a:t>41.3%</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2F2F2"/>
                    </a:solidFill>
                  </a:tcPr>
                </a:tc>
                <a:tc>
                  <a:txBody>
                    <a:bodyPr/>
                    <a:lstStyle/>
                    <a:p>
                      <a:pPr algn="ctr"/>
                      <a:r>
                        <a:rPr lang="en-US" sz="1400" b="0" i="0" dirty="0">
                          <a:solidFill>
                            <a:srgbClr val="262626"/>
                          </a:solidFill>
                        </a:rPr>
                        <a:t>32.8%</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2F2F2"/>
                    </a:solidFill>
                  </a:tcPr>
                </a:tc>
                <a:extLst>
                  <a:ext uri="{0D108BD9-81ED-4DB2-BD59-A6C34878D82A}">
                    <a16:rowId xmlns:a16="http://schemas.microsoft.com/office/drawing/2014/main" val="10002"/>
                  </a:ext>
                </a:extLst>
              </a:tr>
              <a:tr h="400000">
                <a:tc>
                  <a:txBody>
                    <a:bodyPr/>
                    <a:lstStyle/>
                    <a:p>
                      <a:pPr algn="l"/>
                      <a:r>
                        <a:rPr lang="en-US" sz="1400" b="0" i="0" dirty="0">
                          <a:solidFill>
                            <a:srgbClr val="262626"/>
                          </a:solidFill>
                        </a:rPr>
                        <a:t>doc1 vs doc4 (unrelated)</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pPr algn="ctr"/>
                      <a:r>
                        <a:rPr lang="en-US" sz="1400" b="0" i="0" dirty="0">
                          <a:solidFill>
                            <a:srgbClr val="262626"/>
                          </a:solidFill>
                        </a:rPr>
                        <a:t>0.0%</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pPr algn="ctr"/>
                      <a:r>
                        <a:rPr lang="en-US" sz="1400" b="0" i="0" dirty="0">
                          <a:solidFill>
                            <a:srgbClr val="262626"/>
                          </a:solidFill>
                        </a:rPr>
                        <a:t>0.0%</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pPr algn="ctr"/>
                      <a:r>
                        <a:rPr lang="en-US" sz="1400" b="0" i="0" dirty="0">
                          <a:solidFill>
                            <a:srgbClr val="262626"/>
                          </a:solidFill>
                        </a:rPr>
                        <a:t>0.0%</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extLst>
                  <a:ext uri="{0D108BD9-81ED-4DB2-BD59-A6C34878D82A}">
                    <a16:rowId xmlns:a16="http://schemas.microsoft.com/office/drawing/2014/main" val="10003"/>
                  </a:ext>
                </a:extLst>
              </a:tr>
              <a:tr h="400000">
                <a:tc>
                  <a:txBody>
                    <a:bodyPr/>
                    <a:lstStyle/>
                    <a:p>
                      <a:pPr algn="l"/>
                      <a:r>
                        <a:rPr lang="en-US" sz="1400" b="0" i="0" dirty="0">
                          <a:solidFill>
                            <a:srgbClr val="262626"/>
                          </a:solidFill>
                        </a:rPr>
                        <a:t>doc2 vs doc3</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2F2F2"/>
                    </a:solidFill>
                  </a:tcPr>
                </a:tc>
                <a:tc>
                  <a:txBody>
                    <a:bodyPr/>
                    <a:lstStyle/>
                    <a:p>
                      <a:pPr algn="ctr"/>
                      <a:r>
                        <a:rPr lang="en-US" sz="1400" b="0" i="0" dirty="0">
                          <a:solidFill>
                            <a:srgbClr val="262626"/>
                          </a:solidFill>
                        </a:rPr>
                        <a:t>0.0%</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2F2F2"/>
                    </a:solidFill>
                  </a:tcPr>
                </a:tc>
                <a:tc>
                  <a:txBody>
                    <a:bodyPr/>
                    <a:lstStyle/>
                    <a:p>
                      <a:pPr algn="ctr"/>
                      <a:r>
                        <a:rPr lang="en-US" sz="1400" b="0" i="0" dirty="0">
                          <a:solidFill>
                            <a:srgbClr val="262626"/>
                          </a:solidFill>
                        </a:rPr>
                        <a:t>0.0%</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2F2F2"/>
                    </a:solidFill>
                  </a:tcPr>
                </a:tc>
                <a:tc>
                  <a:txBody>
                    <a:bodyPr/>
                    <a:lstStyle/>
                    <a:p>
                      <a:pPr algn="ctr"/>
                      <a:r>
                        <a:rPr lang="en-US" sz="1400" b="0" i="0" dirty="0">
                          <a:solidFill>
                            <a:srgbClr val="262626"/>
                          </a:solidFill>
                        </a:rPr>
                        <a:t>0.0%</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2F2F2"/>
                    </a:solidFill>
                  </a:tcPr>
                </a:tc>
                <a:extLst>
                  <a:ext uri="{0D108BD9-81ED-4DB2-BD59-A6C34878D82A}">
                    <a16:rowId xmlns:a16="http://schemas.microsoft.com/office/drawing/2014/main" val="10004"/>
                  </a:ext>
                </a:extLst>
              </a:tr>
            </a:tbl>
          </a:graphicData>
        </a:graphic>
      </p:graphicFrame>
      <p:sp>
        <p:nvSpPr>
          <p:cNvPr id="138" name="Cap 138"/>
          <p:cNvSpPr txBox="1"/>
          <p:nvPr/>
        </p:nvSpPr>
        <p:spPr>
          <a:xfrm>
            <a:off x="6300000" y="1080000"/>
            <a:ext cx="5200000" cy="380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500" b="1" i="0" dirty="0">
                <a:solidFill>
                  <a:srgbClr val="C00000"/>
                </a:solidFill>
              </a:rPr>
              <a:t>Rolling hash vs naive comparison (k = 25)</a:t>
            </a:r>
          </a:p>
        </p:txBody>
      </p:sp>
      <p:graphicFrame>
        <p:nvGraphicFramePr>
          <p:cNvPr id="139" name="Table 139"/>
          <p:cNvGraphicFramePr>
            <a:graphicFrameLocks noGrp="1"/>
          </p:cNvGraphicFramePr>
          <p:nvPr/>
        </p:nvGraphicFramePr>
        <p:xfrm>
          <a:off x="6300000" y="1480000"/>
          <a:ext cx="5200000" cy="2400000"/>
        </p:xfrm>
        <a:graphic>
          <a:graphicData uri="http://schemas.openxmlformats.org/drawingml/2006/table">
            <a:tbl>
              <a:tblPr firstRow="1"/>
              <a:tblGrid>
                <a:gridCol w="1300000">
                  <a:extLst>
                    <a:ext uri="{9D8B030D-6E8A-4147-A177-3AD203B41FA5}">
                      <a16:colId xmlns:a16="http://schemas.microsoft.com/office/drawing/2014/main" val="20000"/>
                    </a:ext>
                  </a:extLst>
                </a:gridCol>
                <a:gridCol w="1300000">
                  <a:extLst>
                    <a:ext uri="{9D8B030D-6E8A-4147-A177-3AD203B41FA5}">
                      <a16:colId xmlns:a16="http://schemas.microsoft.com/office/drawing/2014/main" val="20001"/>
                    </a:ext>
                  </a:extLst>
                </a:gridCol>
                <a:gridCol w="1300000">
                  <a:extLst>
                    <a:ext uri="{9D8B030D-6E8A-4147-A177-3AD203B41FA5}">
                      <a16:colId xmlns:a16="http://schemas.microsoft.com/office/drawing/2014/main" val="20002"/>
                    </a:ext>
                  </a:extLst>
                </a:gridCol>
                <a:gridCol w="1300000">
                  <a:extLst>
                    <a:ext uri="{9D8B030D-6E8A-4147-A177-3AD203B41FA5}">
                      <a16:colId xmlns:a16="http://schemas.microsoft.com/office/drawing/2014/main" val="20003"/>
                    </a:ext>
                  </a:extLst>
                </a:gridCol>
              </a:tblGrid>
              <a:tr h="400000">
                <a:tc>
                  <a:txBody>
                    <a:bodyPr/>
                    <a:lstStyle/>
                    <a:p>
                      <a:pPr algn="ctr"/>
                      <a:r>
                        <a:rPr lang="en-US" sz="1400" b="1" i="0" dirty="0">
                          <a:solidFill>
                            <a:srgbClr val="FFFFFF"/>
                          </a:solidFill>
                        </a:rPr>
                        <a:t>Chars</a:t>
                      </a:r>
                    </a:p>
                  </a:txBody>
                  <a:tcPr anchor="ctr">
                    <a:lnL w="0">
                      <a:noFill/>
                    </a:lnL>
                    <a:lnR w="0">
                      <a:noFill/>
                    </a:lnR>
                    <a:lnT w="0">
                      <a:noFill/>
                    </a:lnT>
                    <a:lnB w="6350">
                      <a:solidFill>
                        <a:srgbClr val="D0D0D0"/>
                      </a:solidFill>
                    </a:lnB>
                    <a:solidFill>
                      <a:srgbClr val="C00000"/>
                    </a:solidFill>
                  </a:tcPr>
                </a:tc>
                <a:tc>
                  <a:txBody>
                    <a:bodyPr/>
                    <a:lstStyle/>
                    <a:p>
                      <a:pPr algn="ctr"/>
                      <a:r>
                        <a:rPr lang="en-US" sz="1400" b="1" i="0" dirty="0">
                          <a:solidFill>
                            <a:srgbClr val="FFFFFF"/>
                          </a:solidFill>
                        </a:rPr>
                        <a:t>Rolling</a:t>
                      </a:r>
                    </a:p>
                  </a:txBody>
                  <a:tcPr anchor="ctr">
                    <a:lnL w="0">
                      <a:noFill/>
                    </a:lnL>
                    <a:lnR w="0">
                      <a:noFill/>
                    </a:lnR>
                    <a:lnT w="0">
                      <a:noFill/>
                    </a:lnT>
                    <a:lnB w="6350">
                      <a:solidFill>
                        <a:srgbClr val="D0D0D0"/>
                      </a:solidFill>
                    </a:lnB>
                    <a:solidFill>
                      <a:srgbClr val="C00000"/>
                    </a:solidFill>
                  </a:tcPr>
                </a:tc>
                <a:tc>
                  <a:txBody>
                    <a:bodyPr/>
                    <a:lstStyle/>
                    <a:p>
                      <a:pPr algn="ctr"/>
                      <a:r>
                        <a:rPr lang="en-US" sz="1400" b="1" i="0" dirty="0">
                          <a:solidFill>
                            <a:srgbClr val="FFFFFF"/>
                          </a:solidFill>
                        </a:rPr>
                        <a:t>Naive</a:t>
                      </a:r>
                    </a:p>
                  </a:txBody>
                  <a:tcPr anchor="ctr">
                    <a:lnL w="0">
                      <a:noFill/>
                    </a:lnL>
                    <a:lnR w="0">
                      <a:noFill/>
                    </a:lnR>
                    <a:lnT w="0">
                      <a:noFill/>
                    </a:lnT>
                    <a:lnB w="6350">
                      <a:solidFill>
                        <a:srgbClr val="D0D0D0"/>
                      </a:solidFill>
                    </a:lnB>
                    <a:solidFill>
                      <a:srgbClr val="C00000"/>
                    </a:solidFill>
                  </a:tcPr>
                </a:tc>
                <a:tc>
                  <a:txBody>
                    <a:bodyPr/>
                    <a:lstStyle/>
                    <a:p>
                      <a:pPr algn="ctr"/>
                      <a:r>
                        <a:rPr lang="en-US" sz="1400" b="1" i="0" dirty="0">
                          <a:solidFill>
                            <a:srgbClr val="FFFFFF"/>
                          </a:solidFill>
                        </a:rPr>
                        <a:t>Speed-up</a:t>
                      </a:r>
                    </a:p>
                  </a:txBody>
                  <a:tcPr anchor="ctr">
                    <a:lnL w="0">
                      <a:noFill/>
                    </a:lnL>
                    <a:lnR w="0">
                      <a:noFill/>
                    </a:lnR>
                    <a:lnT w="0">
                      <a:noFill/>
                    </a:lnT>
                    <a:lnB w="6350">
                      <a:solidFill>
                        <a:srgbClr val="D0D0D0"/>
                      </a:solidFill>
                    </a:lnB>
                    <a:solidFill>
                      <a:srgbClr val="C00000"/>
                    </a:solidFill>
                  </a:tcPr>
                </a:tc>
                <a:extLst>
                  <a:ext uri="{0D108BD9-81ED-4DB2-BD59-A6C34878D82A}">
                    <a16:rowId xmlns:a16="http://schemas.microsoft.com/office/drawing/2014/main" val="10000"/>
                  </a:ext>
                </a:extLst>
              </a:tr>
              <a:tr h="400000">
                <a:tc>
                  <a:txBody>
                    <a:bodyPr/>
                    <a:lstStyle/>
                    <a:p>
                      <a:pPr algn="ctr"/>
                      <a:r>
                        <a:rPr lang="en-US" sz="1400" b="0" i="0" dirty="0">
                          <a:solidFill>
                            <a:srgbClr val="262626"/>
                          </a:solidFill>
                        </a:rPr>
                        <a:t>3,427</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pPr algn="ctr"/>
                      <a:r>
                        <a:rPr lang="en-US" sz="1400" b="0" i="0" dirty="0">
                          <a:solidFill>
                            <a:srgbClr val="262626"/>
                          </a:solidFill>
                        </a:rPr>
                        <a:t>2.3 ms</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pPr algn="ctr"/>
                      <a:r>
                        <a:rPr lang="en-US" sz="1400" b="0" i="0" dirty="0">
                          <a:solidFill>
                            <a:srgbClr val="262626"/>
                          </a:solidFill>
                        </a:rPr>
                        <a:t>41 ms</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pPr algn="ctr"/>
                      <a:r>
                        <a:rPr lang="en-US" sz="1400" b="0" i="0" dirty="0">
                          <a:solidFill>
                            <a:srgbClr val="262626"/>
                          </a:solidFill>
                        </a:rPr>
                        <a:t>18x</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extLst>
                  <a:ext uri="{0D108BD9-81ED-4DB2-BD59-A6C34878D82A}">
                    <a16:rowId xmlns:a16="http://schemas.microsoft.com/office/drawing/2014/main" val="10001"/>
                  </a:ext>
                </a:extLst>
              </a:tr>
              <a:tr h="400000">
                <a:tc>
                  <a:txBody>
                    <a:bodyPr/>
                    <a:lstStyle/>
                    <a:p>
                      <a:pPr algn="ctr"/>
                      <a:r>
                        <a:rPr lang="en-US" sz="1400" b="0" i="0" dirty="0">
                          <a:solidFill>
                            <a:srgbClr val="262626"/>
                          </a:solidFill>
                        </a:rPr>
                        <a:t>6,724</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2F2F2"/>
                    </a:solidFill>
                  </a:tcPr>
                </a:tc>
                <a:tc>
                  <a:txBody>
                    <a:bodyPr/>
                    <a:lstStyle/>
                    <a:p>
                      <a:pPr algn="ctr"/>
                      <a:r>
                        <a:rPr lang="en-US" sz="1400" b="0" i="0" dirty="0">
                          <a:solidFill>
                            <a:srgbClr val="262626"/>
                          </a:solidFill>
                        </a:rPr>
                        <a:t>2.3 ms</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2F2F2"/>
                    </a:solidFill>
                  </a:tcPr>
                </a:tc>
                <a:tc>
                  <a:txBody>
                    <a:bodyPr/>
                    <a:lstStyle/>
                    <a:p>
                      <a:pPr algn="ctr"/>
                      <a:r>
                        <a:rPr lang="en-US" sz="1400" b="0" i="0" dirty="0">
                          <a:solidFill>
                            <a:srgbClr val="262626"/>
                          </a:solidFill>
                        </a:rPr>
                        <a:t>149 ms</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2F2F2"/>
                    </a:solidFill>
                  </a:tcPr>
                </a:tc>
                <a:tc>
                  <a:txBody>
                    <a:bodyPr/>
                    <a:lstStyle/>
                    <a:p>
                      <a:pPr algn="ctr"/>
                      <a:r>
                        <a:rPr lang="en-US" sz="1400" b="0" i="0" dirty="0">
                          <a:solidFill>
                            <a:srgbClr val="262626"/>
                          </a:solidFill>
                        </a:rPr>
                        <a:t>65x</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2F2F2"/>
                    </a:solidFill>
                  </a:tcPr>
                </a:tc>
                <a:extLst>
                  <a:ext uri="{0D108BD9-81ED-4DB2-BD59-A6C34878D82A}">
                    <a16:rowId xmlns:a16="http://schemas.microsoft.com/office/drawing/2014/main" val="10002"/>
                  </a:ext>
                </a:extLst>
              </a:tr>
              <a:tr h="400000">
                <a:tc>
                  <a:txBody>
                    <a:bodyPr/>
                    <a:lstStyle/>
                    <a:p>
                      <a:pPr algn="ctr"/>
                      <a:r>
                        <a:rPr lang="en-US" sz="1400" b="0" i="0" dirty="0">
                          <a:solidFill>
                            <a:srgbClr val="262626"/>
                          </a:solidFill>
                        </a:rPr>
                        <a:t>13,479</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pPr algn="ctr"/>
                      <a:r>
                        <a:rPr lang="en-US" sz="1400" b="0" i="0" dirty="0">
                          <a:solidFill>
                            <a:srgbClr val="262626"/>
                          </a:solidFill>
                        </a:rPr>
                        <a:t>5.6 ms</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pPr algn="ctr"/>
                      <a:r>
                        <a:rPr lang="en-US" sz="1400" b="0" i="0" dirty="0">
                          <a:solidFill>
                            <a:srgbClr val="262626"/>
                          </a:solidFill>
                        </a:rPr>
                        <a:t>650 ms</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pPr algn="ctr"/>
                      <a:r>
                        <a:rPr lang="en-US" sz="1400" b="0" i="0" dirty="0">
                          <a:solidFill>
                            <a:srgbClr val="262626"/>
                          </a:solidFill>
                        </a:rPr>
                        <a:t>116x</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extLst>
                  <a:ext uri="{0D108BD9-81ED-4DB2-BD59-A6C34878D82A}">
                    <a16:rowId xmlns:a16="http://schemas.microsoft.com/office/drawing/2014/main" val="10003"/>
                  </a:ext>
                </a:extLst>
              </a:tr>
              <a:tr h="400000">
                <a:tc>
                  <a:txBody>
                    <a:bodyPr/>
                    <a:lstStyle/>
                    <a:p>
                      <a:pPr algn="ctr"/>
                      <a:r>
                        <a:rPr lang="en-US" sz="1400" b="0" i="0" dirty="0">
                          <a:solidFill>
                            <a:srgbClr val="262626"/>
                          </a:solidFill>
                        </a:rPr>
                        <a:t>27,004</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2F2F2"/>
                    </a:solidFill>
                  </a:tcPr>
                </a:tc>
                <a:tc>
                  <a:txBody>
                    <a:bodyPr/>
                    <a:lstStyle/>
                    <a:p>
                      <a:pPr algn="ctr"/>
                      <a:r>
                        <a:rPr lang="en-US" sz="1400" b="0" i="0" dirty="0">
                          <a:solidFill>
                            <a:srgbClr val="262626"/>
                          </a:solidFill>
                        </a:rPr>
                        <a:t>6.3 ms</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2F2F2"/>
                    </a:solidFill>
                  </a:tcPr>
                </a:tc>
                <a:tc>
                  <a:txBody>
                    <a:bodyPr/>
                    <a:lstStyle/>
                    <a:p>
                      <a:pPr algn="ctr"/>
                      <a:r>
                        <a:rPr lang="en-US" sz="1400" b="0" i="0" dirty="0">
                          <a:solidFill>
                            <a:srgbClr val="262626"/>
                          </a:solidFill>
                        </a:rPr>
                        <a:t>2,419 ms</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2F2F2"/>
                    </a:solidFill>
                  </a:tcPr>
                </a:tc>
                <a:tc>
                  <a:txBody>
                    <a:bodyPr/>
                    <a:lstStyle/>
                    <a:p>
                      <a:pPr algn="ctr"/>
                      <a:r>
                        <a:rPr lang="en-US" sz="1400" b="0" i="0" dirty="0">
                          <a:solidFill>
                            <a:srgbClr val="262626"/>
                          </a:solidFill>
                        </a:rPr>
                        <a:t>384x</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2F2F2"/>
                    </a:solidFill>
                  </a:tcPr>
                </a:tc>
                <a:extLst>
                  <a:ext uri="{0D108BD9-81ED-4DB2-BD59-A6C34878D82A}">
                    <a16:rowId xmlns:a16="http://schemas.microsoft.com/office/drawing/2014/main" val="10004"/>
                  </a:ext>
                </a:extLst>
              </a:tr>
              <a:tr h="400000">
                <a:tc>
                  <a:txBody>
                    <a:bodyPr/>
                    <a:lstStyle/>
                    <a:p>
                      <a:pPr algn="ctr"/>
                      <a:r>
                        <a:rPr lang="en-US" sz="1400" b="0" i="0" dirty="0">
                          <a:solidFill>
                            <a:srgbClr val="262626"/>
                          </a:solidFill>
                        </a:rPr>
                        <a:t>54,244</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pPr algn="ctr"/>
                      <a:r>
                        <a:rPr lang="en-US" sz="1400" b="0" i="0" dirty="0">
                          <a:solidFill>
                            <a:srgbClr val="262626"/>
                          </a:solidFill>
                        </a:rPr>
                        <a:t>8.2 ms</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pPr algn="ctr"/>
                      <a:r>
                        <a:rPr lang="en-US" sz="1400" b="0" i="0" dirty="0">
                          <a:solidFill>
                            <a:srgbClr val="262626"/>
                          </a:solidFill>
                        </a:rPr>
                        <a:t>9,772 ms</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tc>
                  <a:txBody>
                    <a:bodyPr/>
                    <a:lstStyle/>
                    <a:p>
                      <a:pPr algn="ctr"/>
                      <a:r>
                        <a:rPr lang="en-US" sz="1400" b="0" i="0" dirty="0">
                          <a:solidFill>
                            <a:srgbClr val="262626"/>
                          </a:solidFill>
                        </a:rPr>
                        <a:t>1,192x</a:t>
                      </a:r>
                    </a:p>
                  </a:txBody>
                  <a:tcPr anchor="ctr">
                    <a:lnL w="0">
                      <a:noFill/>
                    </a:lnL>
                    <a:lnR w="0">
                      <a:noFill/>
                    </a:lnR>
                    <a:lnT w="6350" cap="flat" cmpd="sng" algn="ctr">
                      <a:solidFill>
                        <a:srgbClr val="D0D0D0"/>
                      </a:solidFill>
                      <a:prstDash val="solid"/>
                      <a:round/>
                      <a:headEnd type="none" w="med" len="med"/>
                      <a:tailEnd type="none" w="med" len="med"/>
                    </a:lnT>
                    <a:lnB w="6350">
                      <a:solidFill>
                        <a:srgbClr val="D0D0D0"/>
                      </a:solidFill>
                    </a:lnB>
                    <a:solidFill>
                      <a:srgbClr val="FFFFFF"/>
                    </a:solidFill>
                  </a:tcPr>
                </a:tc>
                <a:extLst>
                  <a:ext uri="{0D108BD9-81ED-4DB2-BD59-A6C34878D82A}">
                    <a16:rowId xmlns:a16="http://schemas.microsoft.com/office/drawing/2014/main" val="10005"/>
                  </a:ext>
                </a:extLst>
              </a:tr>
            </a:tbl>
          </a:graphicData>
        </a:graphic>
      </p:graphicFrame>
      <p:sp>
        <p:nvSpPr>
          <p:cNvPr id="140" name="Cap 140"/>
          <p:cNvSpPr txBox="1"/>
          <p:nvPr/>
        </p:nvSpPr>
        <p:spPr>
          <a:xfrm>
            <a:off x="700000" y="4100000"/>
            <a:ext cx="10800000" cy="380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500" b="1" i="0" dirty="0">
                <a:solidFill>
                  <a:srgbClr val="C00000"/>
                </a:solidFill>
              </a:rPr>
              <a:t>Highlighted output for doc2_copied.txt (copied passages marked)</a:t>
            </a:r>
          </a:p>
        </p:txBody>
      </p:sp>
      <p:sp>
        <p:nvSpPr>
          <p:cNvPr id="141" name="Highlight 141"/>
          <p:cNvSpPr/>
          <p:nvPr/>
        </p:nvSpPr>
        <p:spPr>
          <a:xfrm>
            <a:off x="700000" y="4500000"/>
            <a:ext cx="10800000" cy="1150000"/>
          </a:xfrm>
          <a:prstGeom prst="roundRect">
            <a:avLst>
              <a:gd name="adj" fmla="val 6000"/>
            </a:avLst>
          </a:prstGeom>
          <a:solidFill>
            <a:srgbClr val="F2F2F2"/>
          </a:solidFill>
          <a:ln>
            <a:noFill/>
          </a:ln>
        </p:spPr>
        <p:txBody>
          <a:bodyPr wrap="square" lIns="137160" tIns="137160" rIns="137160" bIns="137160" rtlCol="0" anchor="ctr">
            <a:noAutofit/>
          </a:bodyPr>
          <a:lstStyle/>
          <a:p>
            <a:pPr marL="0" indent="0" algn="l">
              <a:lnSpc>
                <a:spcPct val="110000"/>
              </a:lnSpc>
              <a:spcBef>
                <a:spcPts val="0"/>
              </a:spcBef>
              <a:spcAft>
                <a:spcPts val="0"/>
              </a:spcAft>
              <a:buNone/>
            </a:pPr>
            <a:r>
              <a:rPr lang="en-US" sz="1300" b="0" i="0" dirty="0">
                <a:solidFill>
                  <a:srgbClr val="262626"/>
                </a:solidFill>
              </a:rPr>
              <a:t>Modern software engineering relies on many ideas. </a:t>
            </a:r>
            <a:r>
              <a:rPr lang="en-US" sz="1300" b="0" i="0" dirty="0">
                <a:solidFill>
                  <a:srgbClr val="262626"/>
                </a:solidFill>
                <a:highlight>
                  <a:srgbClr val="FFD54F"/>
                </a:highlight>
              </a:rPr>
              <a:t>Data structures are fundamental to computer science because they determine how efficiently information can be stored and retrieved.</a:t>
            </a:r>
            <a:r>
              <a:rPr lang="en-US" sz="1300" b="0" i="0" dirty="0">
                <a:solidFill>
                  <a:srgbClr val="262626"/>
                </a:solidFill>
              </a:rPr>
              <a:t> Students often study trees and graphs as well. </a:t>
            </a:r>
            <a:r>
              <a:rPr lang="en-US" sz="1300" b="0" i="0" dirty="0">
                <a:solidFill>
                  <a:srgbClr val="262626"/>
                </a:solidFill>
                <a:highlight>
                  <a:srgbClr val="FFD54F"/>
                </a:highlight>
              </a:rPr>
              <a:t>A hash table maps keys to values using a hash function, giving average constant time lookups.</a:t>
            </a:r>
            <a:r>
              <a:rPr lang="en-US" sz="1300" b="0" i="0" dirty="0">
                <a:solidFill>
                  <a:srgbClr val="262626"/>
                </a:solidFill>
              </a:rPr>
              <a:t> Testing and documentation are equally important in any project.</a:t>
            </a:r>
          </a:p>
        </p:txBody>
      </p:sp>
      <p:sp>
        <p:nvSpPr>
          <p:cNvPr id="142" name="Note 142"/>
          <p:cNvSpPr txBox="1"/>
          <p:nvPr/>
        </p:nvSpPr>
        <p:spPr>
          <a:xfrm>
            <a:off x="700000" y="5750000"/>
            <a:ext cx="10800000" cy="4200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en-US" sz="1200" b="0" i="1" dirty="0">
                <a:solidFill>
                  <a:srgbClr val="595959"/>
                </a:solidFill>
              </a:rPr>
              <a:t>Timings measured on the development machine after JIT warm-up; collisions rejected by verification: 0 in all runs.</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143" name="HW 143"/>
          <p:cNvSpPr/>
          <p:nvPr/>
        </p:nvSpPr>
        <p:spPr>
          <a:xfrm>
            <a:off x="700000" y="1150000"/>
            <a:ext cx="5300000" cy="3900000"/>
          </a:xfrm>
          <a:prstGeom prst="roundRect">
            <a:avLst>
              <a:gd name="adj" fmla="val 4000"/>
            </a:avLst>
          </a:prstGeom>
          <a:solidFill>
            <a:srgbClr val="F2F2F2"/>
          </a:solidFill>
          <a:ln>
            <a:noFill/>
          </a:ln>
        </p:spPr>
        <p:txBody>
          <a:bodyPr wrap="square" lIns="228600" tIns="228600" rIns="228600" bIns="228600" rtlCol="0" anchor="t">
            <a:noAutofit/>
          </a:bodyPr>
          <a:lstStyle/>
          <a:p>
            <a:pPr marL="0" indent="0" algn="l">
              <a:spcBef>
                <a:spcPts val="0"/>
              </a:spcBef>
              <a:spcAft>
                <a:spcPts val="800"/>
              </a:spcAft>
              <a:buNone/>
            </a:pPr>
            <a:r>
              <a:rPr lang="en-US" sz="2200" b="1" i="0" dirty="0">
                <a:solidFill>
                  <a:srgbClr val="C00000"/>
                </a:solidFill>
              </a:rPr>
              <a:t>Hardware</a:t>
            </a:r>
          </a:p>
          <a:p>
            <a:pPr marL="285750" indent="-285750" algn="l">
              <a:spcBef>
                <a:spcPts val="0"/>
              </a:spcBef>
              <a:spcAft>
                <a:spcPts val="800"/>
              </a:spcAft>
              <a:buFont typeface="Arial"/>
              <a:buChar char="•"/>
            </a:pPr>
            <a:r>
              <a:rPr lang="en-US" sz="1800" b="0" i="0" dirty="0">
                <a:solidFill>
                  <a:srgbClr val="262626"/>
                </a:solidFill>
              </a:rPr>
              <a:t>Any desktop or laptop PC</a:t>
            </a:r>
          </a:p>
          <a:p>
            <a:pPr marL="285750" indent="-285750" algn="l">
              <a:spcBef>
                <a:spcPts val="0"/>
              </a:spcBef>
              <a:spcAft>
                <a:spcPts val="800"/>
              </a:spcAft>
              <a:buFont typeface="Arial"/>
              <a:buChar char="•"/>
            </a:pPr>
            <a:r>
              <a:rPr lang="en-US" sz="1800" b="0" i="0" dirty="0">
                <a:solidFill>
                  <a:srgbClr val="262626"/>
                </a:solidFill>
              </a:rPr>
              <a:t>Dual-core processor or better</a:t>
            </a:r>
          </a:p>
          <a:p>
            <a:pPr marL="285750" indent="-285750" algn="l">
              <a:spcBef>
                <a:spcPts val="0"/>
              </a:spcBef>
              <a:spcAft>
                <a:spcPts val="800"/>
              </a:spcAft>
              <a:buFont typeface="Arial"/>
              <a:buChar char="•"/>
            </a:pPr>
            <a:r>
              <a:rPr lang="en-US" sz="1800" b="0" i="0" dirty="0">
                <a:solidFill>
                  <a:srgbClr val="262626"/>
                </a:solidFill>
              </a:rPr>
              <a:t>4 GB RAM minimum (8 GB recommended)</a:t>
            </a:r>
          </a:p>
          <a:p>
            <a:pPr marL="285750" indent="-285750" algn="l">
              <a:spcBef>
                <a:spcPts val="0"/>
              </a:spcBef>
              <a:spcAft>
                <a:spcPts val="800"/>
              </a:spcAft>
              <a:buFont typeface="Arial"/>
              <a:buChar char="•"/>
            </a:pPr>
            <a:r>
              <a:rPr lang="en-US" sz="1800" b="0" i="0" dirty="0">
                <a:solidFill>
                  <a:srgbClr val="262626"/>
                </a:solidFill>
              </a:rPr>
              <a:t>100 MB free disk space</a:t>
            </a:r>
          </a:p>
          <a:p>
            <a:pPr marL="285750" indent="-285750" algn="l">
              <a:spcBef>
                <a:spcPts val="0"/>
              </a:spcBef>
              <a:spcAft>
                <a:spcPts val="800"/>
              </a:spcAft>
              <a:buFont typeface="Arial"/>
              <a:buChar char="•"/>
            </a:pPr>
            <a:r>
              <a:rPr lang="en-US" sz="1800" b="0" i="0" dirty="0">
                <a:solidFill>
                  <a:srgbClr val="262626"/>
                </a:solidFill>
              </a:rPr>
              <a:t>Display for the Swing interface</a:t>
            </a:r>
          </a:p>
        </p:txBody>
      </p:sp>
      <p:sp>
        <p:nvSpPr>
          <p:cNvPr id="144" name="SW 144"/>
          <p:cNvSpPr/>
          <p:nvPr/>
        </p:nvSpPr>
        <p:spPr>
          <a:xfrm>
            <a:off x="6200000" y="1150000"/>
            <a:ext cx="5300000" cy="3900000"/>
          </a:xfrm>
          <a:prstGeom prst="roundRect">
            <a:avLst>
              <a:gd name="adj" fmla="val 4000"/>
            </a:avLst>
          </a:prstGeom>
          <a:solidFill>
            <a:srgbClr val="F2F2F2"/>
          </a:solidFill>
          <a:ln>
            <a:noFill/>
          </a:ln>
        </p:spPr>
        <p:txBody>
          <a:bodyPr wrap="square" lIns="228600" tIns="228600" rIns="228600" bIns="228600" rtlCol="0" anchor="t">
            <a:noAutofit/>
          </a:bodyPr>
          <a:lstStyle/>
          <a:p>
            <a:pPr marL="0" indent="0" algn="l">
              <a:spcBef>
                <a:spcPts val="0"/>
              </a:spcBef>
              <a:spcAft>
                <a:spcPts val="800"/>
              </a:spcAft>
              <a:buNone/>
            </a:pPr>
            <a:r>
              <a:rPr lang="en-US" sz="2200" b="1" i="0" dirty="0">
                <a:solidFill>
                  <a:srgbClr val="C00000"/>
                </a:solidFill>
              </a:rPr>
              <a:t>Software</a:t>
            </a:r>
          </a:p>
          <a:p>
            <a:pPr marL="285750" indent="-285750" algn="l">
              <a:spcBef>
                <a:spcPts val="0"/>
              </a:spcBef>
              <a:spcAft>
                <a:spcPts val="800"/>
              </a:spcAft>
              <a:buFont typeface="Arial"/>
              <a:buChar char="•"/>
            </a:pPr>
            <a:r>
              <a:rPr lang="en-US" sz="1800" b="0" i="0" dirty="0">
                <a:solidFill>
                  <a:srgbClr val="262626"/>
                </a:solidFill>
              </a:rPr>
              <a:t>Java Development Kit 11 or later (built and tested on JDK 21)</a:t>
            </a:r>
          </a:p>
          <a:p>
            <a:pPr marL="285750" indent="-285750" algn="l">
              <a:spcBef>
                <a:spcPts val="0"/>
              </a:spcBef>
              <a:spcAft>
                <a:spcPts val="800"/>
              </a:spcAft>
              <a:buFont typeface="Arial"/>
              <a:buChar char="•"/>
            </a:pPr>
            <a:r>
              <a:rPr lang="en-US" sz="1800" b="0" i="0" dirty="0">
                <a:solidFill>
                  <a:srgbClr val="262626"/>
                </a:solidFill>
              </a:rPr>
              <a:t>Windows, Linux or macOS</a:t>
            </a:r>
          </a:p>
          <a:p>
            <a:pPr marL="285750" indent="-285750" algn="l">
              <a:spcBef>
                <a:spcPts val="0"/>
              </a:spcBef>
              <a:spcAft>
                <a:spcPts val="800"/>
              </a:spcAft>
              <a:buFont typeface="Arial"/>
              <a:buChar char="•"/>
            </a:pPr>
            <a:r>
              <a:rPr lang="en-US" sz="1800" b="0" i="0" dirty="0">
                <a:solidFill>
                  <a:srgbClr val="262626"/>
                </a:solidFill>
              </a:rPr>
              <a:t>Java standard libraries only: java.lang, java.io, javax.swing</a:t>
            </a:r>
          </a:p>
          <a:p>
            <a:pPr marL="285750" indent="-285750" algn="l">
              <a:spcBef>
                <a:spcPts val="0"/>
              </a:spcBef>
              <a:spcAft>
                <a:spcPts val="800"/>
              </a:spcAft>
              <a:buFont typeface="Arial"/>
              <a:buChar char="•"/>
            </a:pPr>
            <a:r>
              <a:rPr lang="en-US" sz="1800" b="0" i="0" dirty="0">
                <a:solidFill>
                  <a:srgbClr val="262626"/>
                </a:solidFill>
              </a:rPr>
              <a:t>IDE: IntelliJ IDEA, Eclipse or VS Code</a:t>
            </a:r>
          </a:p>
          <a:p>
            <a:pPr marL="285750" indent="-285750" algn="l">
              <a:spcBef>
                <a:spcPts val="0"/>
              </a:spcBef>
              <a:spcAft>
                <a:spcPts val="800"/>
              </a:spcAft>
              <a:buFont typeface="Arial"/>
              <a:buChar char="•"/>
            </a:pPr>
            <a:r>
              <a:rPr lang="en-US" sz="1800" b="0" i="0" dirty="0">
                <a:solidFill>
                  <a:srgbClr val="262626"/>
                </a:solidFill>
              </a:rPr>
              <a:t>Web browser to open the HTML report</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145" name="Conclusion 145"/>
          <p:cNvSpPr txBox="1"/>
          <p:nvPr/>
        </p:nvSpPr>
        <p:spPr>
          <a:xfrm>
            <a:off x="2000000" y="2400000"/>
            <a:ext cx="9300000" cy="3800000"/>
          </a:xfrm>
          <a:prstGeom prst="rect">
            <a:avLst/>
          </a:prstGeom>
          <a:noFill/>
          <a:ln>
            <a:noFill/>
          </a:ln>
        </p:spPr>
        <p:txBody>
          <a:bodyPr wrap="square" lIns="91440" tIns="91440" rIns="91440" bIns="91440" rtlCol="0" anchor="t">
            <a:noAutofit/>
          </a:bodyPr>
          <a:lstStyle/>
          <a:p>
            <a:pPr marL="285750" indent="-285750" algn="l">
              <a:spcBef>
                <a:spcPts val="0"/>
              </a:spcBef>
              <a:spcAft>
                <a:spcPts val="1800"/>
              </a:spcAft>
              <a:buFont typeface="Arial"/>
              <a:buChar char="•"/>
            </a:pPr>
            <a:r>
              <a:rPr lang="en-US" sz="2200" b="0" i="0" dirty="0">
                <a:solidFill>
                  <a:srgbClr val="262626"/>
                </a:solidFill>
              </a:rPr>
              <a:t>The rolling hash system finds copied passages across multiple documents in expected O(n + m) time per pair, against O(n x m x k) for the naive approach.</a:t>
            </a:r>
          </a:p>
          <a:p>
            <a:pPr marL="285750" indent="-285750" algn="l">
              <a:spcBef>
                <a:spcPts val="0"/>
              </a:spcBef>
              <a:spcAft>
                <a:spcPts val="1800"/>
              </a:spcAft>
              <a:buFont typeface="Arial"/>
              <a:buChar char="•"/>
            </a:pPr>
            <a:r>
              <a:rPr lang="en-US" sz="2200" b="0" i="0" dirty="0">
                <a:solidFill>
                  <a:srgbClr val="262626"/>
                </a:solidFill>
              </a:rPr>
              <a:t>Double hashing with character-level verification gave zero false positives in every test.</a:t>
            </a:r>
          </a:p>
          <a:p>
            <a:pPr marL="285750" indent="-285750" algn="l">
              <a:spcBef>
                <a:spcPts val="0"/>
              </a:spcBef>
              <a:spcAft>
                <a:spcPts val="1800"/>
              </a:spcAft>
              <a:buFont typeface="Arial"/>
              <a:buChar char="•"/>
            </a:pPr>
            <a:r>
              <a:rPr lang="en-US" sz="2200" b="0" i="0" dirty="0">
                <a:solidFill>
                  <a:srgbClr val="262626"/>
                </a:solidFill>
              </a:rPr>
              <a:t>Hash index, dynamic array, string normaliser and reporter are all written from scratch without java.util.</a:t>
            </a:r>
          </a:p>
          <a:p>
            <a:pPr marL="285750" indent="-285750" algn="l">
              <a:spcBef>
                <a:spcPts val="0"/>
              </a:spcBef>
              <a:spcAft>
                <a:spcPts val="1800"/>
              </a:spcAft>
              <a:buFont typeface="Arial"/>
              <a:buChar char="•"/>
            </a:pPr>
            <a:r>
              <a:rPr lang="en-US" sz="2200" b="0" i="0" dirty="0">
                <a:solidFill>
                  <a:srgbClr val="262626"/>
                </a:solidFill>
              </a:rPr>
              <a:t>Similarity percentages and highlighted passages, in the Swing GUI and an HTML report, make the results easy to act 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146" name="Future 146"/>
          <p:cNvSpPr txBox="1"/>
          <p:nvPr/>
        </p:nvSpPr>
        <p:spPr>
          <a:xfrm>
            <a:off x="2000000" y="2400000"/>
            <a:ext cx="9300000" cy="3800000"/>
          </a:xfrm>
          <a:prstGeom prst="rect">
            <a:avLst/>
          </a:prstGeom>
          <a:noFill/>
          <a:ln>
            <a:noFill/>
          </a:ln>
        </p:spPr>
        <p:txBody>
          <a:bodyPr wrap="square" lIns="91440" tIns="91440" rIns="91440" bIns="91440" rtlCol="0" anchor="t">
            <a:noAutofit/>
          </a:bodyPr>
          <a:lstStyle/>
          <a:p>
            <a:pPr marL="285750" indent="-285750" algn="l">
              <a:spcBef>
                <a:spcPts val="0"/>
              </a:spcBef>
              <a:spcAft>
                <a:spcPts val="1400"/>
              </a:spcAft>
              <a:buFont typeface="Arial"/>
              <a:buChar char="•"/>
            </a:pPr>
            <a:r>
              <a:rPr lang="en-US" sz="2200" b="0" i="0" dirty="0">
                <a:solidFill>
                  <a:srgbClr val="262626"/>
                </a:solidFill>
              </a:rPr>
              <a:t>Winnowing to keep only selected hashes, shrinking the index for very large corpora</a:t>
            </a:r>
          </a:p>
          <a:p>
            <a:pPr marL="285750" indent="-285750" algn="l">
              <a:spcBef>
                <a:spcPts val="0"/>
              </a:spcBef>
              <a:spcAft>
                <a:spcPts val="1400"/>
              </a:spcAft>
              <a:buFont typeface="Arial"/>
              <a:buChar char="•"/>
            </a:pPr>
            <a:r>
              <a:rPr lang="en-US" sz="2200" b="0" i="0" dirty="0">
                <a:solidFill>
                  <a:srgbClr val="262626"/>
                </a:solidFill>
              </a:rPr>
              <a:t>Word-level shingles and stemming to catch light rewording</a:t>
            </a:r>
          </a:p>
          <a:p>
            <a:pPr marL="285750" indent="-285750" algn="l">
              <a:spcBef>
                <a:spcPts val="0"/>
              </a:spcBef>
              <a:spcAft>
                <a:spcPts val="1400"/>
              </a:spcAft>
              <a:buFont typeface="Arial"/>
              <a:buChar char="•"/>
            </a:pPr>
            <a:r>
              <a:rPr lang="en-US" sz="2200" b="0" i="0" dirty="0">
                <a:solidFill>
                  <a:srgbClr val="262626"/>
                </a:solidFill>
              </a:rPr>
              <a:t>Support for PDF and DOCX input</a:t>
            </a:r>
          </a:p>
          <a:p>
            <a:pPr marL="285750" indent="-285750" algn="l">
              <a:spcBef>
                <a:spcPts val="0"/>
              </a:spcBef>
              <a:spcAft>
                <a:spcPts val="1400"/>
              </a:spcAft>
              <a:buFont typeface="Arial"/>
              <a:buChar char="•"/>
            </a:pPr>
            <a:r>
              <a:rPr lang="en-US" sz="2200" b="0" i="0" dirty="0">
                <a:solidFill>
                  <a:srgbClr val="262626"/>
                </a:solidFill>
              </a:rPr>
              <a:t>Persistent index so new documents are checked against an existing collection</a:t>
            </a:r>
          </a:p>
          <a:p>
            <a:pPr marL="285750" indent="-285750" algn="l">
              <a:spcBef>
                <a:spcPts val="0"/>
              </a:spcBef>
              <a:spcAft>
                <a:spcPts val="1400"/>
              </a:spcAft>
              <a:buFont typeface="Arial"/>
              <a:buChar char="•"/>
            </a:pPr>
            <a:r>
              <a:rPr lang="en-US" sz="2200" b="0" i="0" dirty="0">
                <a:solidFill>
                  <a:srgbClr val="262626"/>
                </a:solidFill>
              </a:rPr>
              <a:t>Multi-threaded pairwise comparison</a:t>
            </a:r>
          </a:p>
          <a:p>
            <a:pPr marL="285750" indent="-285750" algn="l">
              <a:spcBef>
                <a:spcPts val="0"/>
              </a:spcBef>
              <a:spcAft>
                <a:spcPts val="1400"/>
              </a:spcAft>
              <a:buFont typeface="Arial"/>
              <a:buChar char="•"/>
            </a:pPr>
            <a:r>
              <a:rPr lang="en-US" sz="2200" b="0" i="0" dirty="0">
                <a:solidFill>
                  <a:srgbClr val="262626"/>
                </a:solidFill>
              </a:rPr>
              <a:t>Citation-aware filtering so quoted and referenced text is not flagged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5E3177-2B38-A858-15A3-E2ECDED2F89D}"/>
              </a:ext>
            </a:extLst>
          </p:cNvPr>
          <p:cNvSpPr txBox="1"/>
          <p:nvPr/>
        </p:nvSpPr>
        <p:spPr>
          <a:xfrm>
            <a:off x="2436159" y="378024"/>
            <a:ext cx="844255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dirty="0">
                <a:ea typeface="Calibri"/>
                <a:cs typeface="Calibri"/>
              </a:rPr>
              <a:t>GEO TAG</a:t>
            </a:r>
          </a:p>
        </p:txBody>
      </p:sp>
      <p:pic>
        <p:nvPicPr>
          <p:cNvPr id="3" name="Picture 2">
            <a:extLst>
              <a:ext uri="{FF2B5EF4-FFF2-40B4-BE49-F238E27FC236}">
                <a16:creationId xmlns:a16="http://schemas.microsoft.com/office/drawing/2014/main" id="{7D66044F-85FA-B7E5-1539-0EBB036437F8}"/>
              </a:ext>
            </a:extLst>
          </p:cNvPr>
          <p:cNvPicPr>
            <a:picLocks noChangeAspect="1"/>
          </p:cNvPicPr>
          <p:nvPr/>
        </p:nvPicPr>
        <p:blipFill>
          <a:blip r:embed="rId2"/>
          <a:stretch>
            <a:fillRect/>
          </a:stretch>
        </p:blipFill>
        <p:spPr>
          <a:xfrm>
            <a:off x="4254935" y="1054274"/>
            <a:ext cx="4809473" cy="5375754"/>
          </a:xfrm>
          <a:prstGeom prst="rect">
            <a:avLst/>
          </a:prstGeom>
        </p:spPr>
      </p:pic>
    </p:spTree>
    <p:extLst>
      <p:ext uri="{BB962C8B-B14F-4D97-AF65-F5344CB8AC3E}">
        <p14:creationId xmlns:p14="http://schemas.microsoft.com/office/powerpoint/2010/main" val="2593716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2747D6-7BE9-8996-3FF0-99CC29749E12}"/>
              </a:ext>
            </a:extLst>
          </p:cNvPr>
          <p:cNvSpPr txBox="1"/>
          <p:nvPr/>
        </p:nvSpPr>
        <p:spPr>
          <a:xfrm>
            <a:off x="3388221" y="322021"/>
            <a:ext cx="700045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dirty="0">
                <a:ea typeface="Calibri"/>
                <a:cs typeface="Calibri"/>
              </a:rPr>
              <a:t>OUTPUT</a:t>
            </a:r>
          </a:p>
        </p:txBody>
      </p:sp>
      <p:pic>
        <p:nvPicPr>
          <p:cNvPr id="5" name="Picture 4">
            <a:extLst>
              <a:ext uri="{FF2B5EF4-FFF2-40B4-BE49-F238E27FC236}">
                <a16:creationId xmlns:a16="http://schemas.microsoft.com/office/drawing/2014/main" id="{945B32CA-4E78-C0EB-B48D-4659EFD34F81}"/>
              </a:ext>
            </a:extLst>
          </p:cNvPr>
          <p:cNvPicPr>
            <a:picLocks noChangeAspect="1"/>
          </p:cNvPicPr>
          <p:nvPr/>
        </p:nvPicPr>
        <p:blipFill>
          <a:blip r:embed="rId2"/>
          <a:stretch>
            <a:fillRect/>
          </a:stretch>
        </p:blipFill>
        <p:spPr>
          <a:xfrm>
            <a:off x="363410" y="845507"/>
            <a:ext cx="5640577" cy="5699341"/>
          </a:xfrm>
          <a:prstGeom prst="rect">
            <a:avLst/>
          </a:prstGeom>
        </p:spPr>
      </p:pic>
      <p:pic>
        <p:nvPicPr>
          <p:cNvPr id="6" name="Picture 5">
            <a:extLst>
              <a:ext uri="{FF2B5EF4-FFF2-40B4-BE49-F238E27FC236}">
                <a16:creationId xmlns:a16="http://schemas.microsoft.com/office/drawing/2014/main" id="{01E49141-8F1C-8EE3-F826-10A69C87D64E}"/>
              </a:ext>
            </a:extLst>
          </p:cNvPr>
          <p:cNvPicPr>
            <a:picLocks noChangeAspect="1"/>
          </p:cNvPicPr>
          <p:nvPr/>
        </p:nvPicPr>
        <p:blipFill>
          <a:blip r:embed="rId3"/>
          <a:stretch>
            <a:fillRect/>
          </a:stretch>
        </p:blipFill>
        <p:spPr>
          <a:xfrm>
            <a:off x="5987853" y="855945"/>
            <a:ext cx="5675553" cy="5835041"/>
          </a:xfrm>
          <a:prstGeom prst="rect">
            <a:avLst/>
          </a:prstGeom>
        </p:spPr>
      </p:pic>
    </p:spTree>
    <p:extLst>
      <p:ext uri="{BB962C8B-B14F-4D97-AF65-F5344CB8AC3E}">
        <p14:creationId xmlns:p14="http://schemas.microsoft.com/office/powerpoint/2010/main" val="327134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59</Words>
  <Application>Microsoft Office PowerPoint</Application>
  <PresentationFormat>Widescreen</PresentationFormat>
  <Paragraphs>25</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Data Structures and Algorithms -3 (25CS2103E)  Plagiarism Detection System using Rolling Hash Techniques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ANITHA CHEKURI</cp:lastModifiedBy>
  <cp:revision>58</cp:revision>
  <dcterms:created xsi:type="dcterms:W3CDTF">2024-08-29T05:25:00Z</dcterms:created>
  <dcterms:modified xsi:type="dcterms:W3CDTF">2026-10-01T09:36:08Z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